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61" r:id="rId6"/>
    <p:sldId id="264" r:id="rId7"/>
    <p:sldId id="279" r:id="rId8"/>
    <p:sldId id="266" r:id="rId9"/>
    <p:sldId id="267" r:id="rId10"/>
    <p:sldId id="276" r:id="rId11"/>
    <p:sldId id="268" r:id="rId12"/>
    <p:sldId id="269" r:id="rId13"/>
    <p:sldId id="270" r:id="rId14"/>
    <p:sldId id="272" r:id="rId15"/>
    <p:sldId id="271" r:id="rId16"/>
    <p:sldId id="273" r:id="rId17"/>
    <p:sldId id="274" r:id="rId18"/>
    <p:sldId id="275" r:id="rId19"/>
    <p:sldId id="262" r:id="rId20"/>
    <p:sldId id="280" r:id="rId21"/>
    <p:sldId id="277" r:id="rId22"/>
  </p:sldIdLst>
  <p:sldSz cx="18288000" cy="10287000"/>
  <p:notesSz cx="6858000" cy="9144000"/>
  <p:embeddedFontLst>
    <p:embeddedFont>
      <p:font typeface="ADLaM Display" panose="02010000000000000000" pitchFamily="2" charset="0"/>
      <p:regular r:id="rId23"/>
    </p:embeddedFont>
    <p:embeddedFont>
      <p:font typeface="Work Sans" pitchFamily="2" charset="0"/>
      <p:regular r:id="rId24"/>
      <p:bold r:id="rId25"/>
      <p:italic r:id="rId26"/>
      <p:boldItalic r:id="rId27"/>
    </p:embeddedFont>
    <p:embeddedFont>
      <p:font typeface="Work Sans Bold" charset="0"/>
      <p:regular r:id="rId28"/>
    </p:embeddedFont>
    <p:embeddedFont>
      <p:font typeface="Work Sans Semi-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52010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734675" y="7834471"/>
            <a:ext cx="6886575" cy="1785779"/>
            <a:chOff x="0" y="0"/>
            <a:chExt cx="1813748" cy="4703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13748" cy="470329"/>
            </a:xfrm>
            <a:custGeom>
              <a:avLst/>
              <a:gdLst/>
              <a:ahLst/>
              <a:cxnLst/>
              <a:rect l="l" t="t" r="r" b="b"/>
              <a:pathLst>
                <a:path w="1813748" h="470329">
                  <a:moveTo>
                    <a:pt x="44968" y="0"/>
                  </a:moveTo>
                  <a:lnTo>
                    <a:pt x="1768780" y="0"/>
                  </a:lnTo>
                  <a:cubicBezTo>
                    <a:pt x="1780706" y="0"/>
                    <a:pt x="1792144" y="4738"/>
                    <a:pt x="1800577" y="13171"/>
                  </a:cubicBezTo>
                  <a:cubicBezTo>
                    <a:pt x="1809011" y="21604"/>
                    <a:pt x="1813748" y="33042"/>
                    <a:pt x="1813748" y="44968"/>
                  </a:cubicBezTo>
                  <a:lnTo>
                    <a:pt x="1813748" y="425360"/>
                  </a:lnTo>
                  <a:cubicBezTo>
                    <a:pt x="1813748" y="437287"/>
                    <a:pt x="1809011" y="448724"/>
                    <a:pt x="1800577" y="457158"/>
                  </a:cubicBezTo>
                  <a:cubicBezTo>
                    <a:pt x="1792144" y="465591"/>
                    <a:pt x="1780706" y="470329"/>
                    <a:pt x="1768780" y="470329"/>
                  </a:cubicBezTo>
                  <a:lnTo>
                    <a:pt x="44968" y="470329"/>
                  </a:lnTo>
                  <a:cubicBezTo>
                    <a:pt x="33042" y="470329"/>
                    <a:pt x="21604" y="465591"/>
                    <a:pt x="13171" y="457158"/>
                  </a:cubicBezTo>
                  <a:cubicBezTo>
                    <a:pt x="4738" y="448724"/>
                    <a:pt x="0" y="437287"/>
                    <a:pt x="0" y="425360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F2C57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13748" cy="527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3657600"/>
            <a:ext cx="9763125" cy="5962650"/>
            <a:chOff x="0" y="0"/>
            <a:chExt cx="4083676" cy="2494030"/>
          </a:xfrm>
        </p:grpSpPr>
        <p:sp>
          <p:nvSpPr>
            <p:cNvPr id="8" name="Freeform 8"/>
            <p:cNvSpPr/>
            <p:nvPr/>
          </p:nvSpPr>
          <p:spPr>
            <a:xfrm>
              <a:off x="54483" y="50038"/>
              <a:ext cx="3974583" cy="2394589"/>
            </a:xfrm>
            <a:custGeom>
              <a:avLst/>
              <a:gdLst/>
              <a:ahLst/>
              <a:cxnLst/>
              <a:rect l="l" t="t" r="r" b="b"/>
              <a:pathLst>
                <a:path w="3974583" h="2394589">
                  <a:moveTo>
                    <a:pt x="3886953" y="2394589"/>
                  </a:moveTo>
                  <a:lnTo>
                    <a:pt x="87757" y="2394589"/>
                  </a:lnTo>
                  <a:cubicBezTo>
                    <a:pt x="39370" y="2394589"/>
                    <a:pt x="0" y="2355346"/>
                    <a:pt x="0" y="2306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886826" y="0"/>
                  </a:lnTo>
                  <a:cubicBezTo>
                    <a:pt x="3935213" y="0"/>
                    <a:pt x="3974583" y="39243"/>
                    <a:pt x="3974583" y="87757"/>
                  </a:cubicBezTo>
                  <a:lnTo>
                    <a:pt x="3974583" y="2306832"/>
                  </a:lnTo>
                  <a:cubicBezTo>
                    <a:pt x="3974583" y="2355219"/>
                    <a:pt x="3935340" y="2394589"/>
                    <a:pt x="3886826" y="2394589"/>
                  </a:cubicBezTo>
                  <a:close/>
                </a:path>
              </a:pathLst>
            </a:custGeom>
            <a:blipFill>
              <a:blip r:embed="rId2"/>
              <a:stretch>
                <a:fillRect t="-209" b="-209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4083549" cy="2493903"/>
            </a:xfrm>
            <a:custGeom>
              <a:avLst/>
              <a:gdLst/>
              <a:ahLst/>
              <a:cxnLst/>
              <a:rect l="l" t="t" r="r" b="b"/>
              <a:pathLst>
                <a:path w="4083549" h="2493903">
                  <a:moveTo>
                    <a:pt x="0" y="91567"/>
                  </a:moveTo>
                  <a:lnTo>
                    <a:pt x="0" y="2402337"/>
                  </a:lnTo>
                  <a:cubicBezTo>
                    <a:pt x="0" y="2452882"/>
                    <a:pt x="41021" y="2493903"/>
                    <a:pt x="91567" y="2493903"/>
                  </a:cubicBezTo>
                  <a:lnTo>
                    <a:pt x="3991982" y="2493903"/>
                  </a:lnTo>
                  <a:cubicBezTo>
                    <a:pt x="4042528" y="2493903"/>
                    <a:pt x="4083549" y="2452882"/>
                    <a:pt x="4083549" y="2402337"/>
                  </a:cubicBezTo>
                  <a:lnTo>
                    <a:pt x="4083549" y="91567"/>
                  </a:lnTo>
                  <a:cubicBezTo>
                    <a:pt x="4083549" y="41021"/>
                    <a:pt x="4042528" y="0"/>
                    <a:pt x="3991982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3241793" y="331724"/>
                  </a:moveTo>
                  <a:lnTo>
                    <a:pt x="3900923" y="331724"/>
                  </a:lnTo>
                  <a:cubicBezTo>
                    <a:pt x="3951469" y="331724"/>
                    <a:pt x="3992490" y="372745"/>
                    <a:pt x="3992490" y="423291"/>
                  </a:cubicBezTo>
                  <a:lnTo>
                    <a:pt x="3992490" y="2311277"/>
                  </a:lnTo>
                  <a:cubicBezTo>
                    <a:pt x="3992490" y="2361823"/>
                    <a:pt x="3951469" y="2402844"/>
                    <a:pt x="3900923" y="2402844"/>
                  </a:cubicBezTo>
                  <a:lnTo>
                    <a:pt x="182753" y="2402844"/>
                  </a:lnTo>
                  <a:cubicBezTo>
                    <a:pt x="132207" y="2402844"/>
                    <a:pt x="91186" y="2361823"/>
                    <a:pt x="91186" y="2311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944740" y="91186"/>
                  </a:lnTo>
                  <a:cubicBezTo>
                    <a:pt x="2970775" y="91186"/>
                    <a:pt x="2995667" y="102235"/>
                    <a:pt x="3013066" y="121666"/>
                  </a:cubicBezTo>
                  <a:lnTo>
                    <a:pt x="3173721" y="301244"/>
                  </a:lnTo>
                  <a:cubicBezTo>
                    <a:pt x="3191120" y="320675"/>
                    <a:pt x="3215885" y="331724"/>
                    <a:pt x="3242047" y="331724"/>
                  </a:cubicBezTo>
                  <a:lnTo>
                    <a:pt x="3241793" y="331724"/>
                  </a:lnTo>
                  <a:close/>
                </a:path>
              </a:pathLst>
            </a:custGeom>
            <a:solidFill>
              <a:srgbClr val="F2C57C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2591933" y="266700"/>
            <a:ext cx="5029317" cy="3262091"/>
          </a:xfrm>
          <a:custGeom>
            <a:avLst/>
            <a:gdLst/>
            <a:ahLst/>
            <a:cxnLst/>
            <a:rect l="l" t="t" r="r" b="b"/>
            <a:pathLst>
              <a:path w="5029317" h="3262091">
                <a:moveTo>
                  <a:pt x="0" y="0"/>
                </a:moveTo>
                <a:lnTo>
                  <a:pt x="5029316" y="0"/>
                </a:lnTo>
                <a:lnTo>
                  <a:pt x="5029316" y="3262090"/>
                </a:lnTo>
                <a:lnTo>
                  <a:pt x="0" y="3262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6444" b="73333" l="9778" r="89778">
                          <a14:foregroundMark x1="22222" y1="68444" x2="31556" y2="72000"/>
                          <a14:foregroundMark x1="31556" y1="72000" x2="32000" y2="7333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 t="-15967" b="-3820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20434" y="1570221"/>
            <a:ext cx="13424266" cy="985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00"/>
              </a:lnSpc>
            </a:pPr>
            <a:r>
              <a:rPr lang="en-US" sz="8000" b="1" spc="-440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Pizza Sales Analysis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388359" y="8167816"/>
            <a:ext cx="5603210" cy="999890"/>
            <a:chOff x="0" y="0"/>
            <a:chExt cx="7470947" cy="133318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47625"/>
              <a:ext cx="7470947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 spc="-165">
                  <a:solidFill>
                    <a:srgbClr val="3F3F3F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Presented by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75962"/>
              <a:ext cx="7470947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 spc="-165">
                  <a:solidFill>
                    <a:srgbClr val="3F3F3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by Harshita</a:t>
              </a:r>
            </a:p>
          </p:txBody>
        </p:sp>
      </p:grpSp>
      <p:grpSp>
        <p:nvGrpSpPr>
          <p:cNvPr id="15" name="Group 27">
            <a:extLst>
              <a:ext uri="{FF2B5EF4-FFF2-40B4-BE49-F238E27FC236}">
                <a16:creationId xmlns:a16="http://schemas.microsoft.com/office/drawing/2014/main" id="{87035AF7-AF11-8105-958B-0F5068E2FA07}"/>
              </a:ext>
            </a:extLst>
          </p:cNvPr>
          <p:cNvGrpSpPr/>
          <p:nvPr/>
        </p:nvGrpSpPr>
        <p:grpSpPr>
          <a:xfrm>
            <a:off x="11413759" y="3845288"/>
            <a:ext cx="4773175" cy="3606286"/>
            <a:chOff x="0" y="0"/>
            <a:chExt cx="1940193" cy="1465878"/>
          </a:xfrm>
        </p:grpSpPr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0E279893-FBFC-9EE9-5CCE-FA5B5E4989D7}"/>
                </a:ext>
              </a:extLst>
            </p:cNvPr>
            <p:cNvSpPr/>
            <p:nvPr/>
          </p:nvSpPr>
          <p:spPr>
            <a:xfrm>
              <a:off x="0" y="0"/>
              <a:ext cx="1940195" cy="1465891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5"/>
              <a:stretch>
                <a:fillRect t="-129" b="-12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800000">
            <a:off x="666750" y="812929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F2C57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52600" y="723900"/>
            <a:ext cx="12666658" cy="1615631"/>
            <a:chOff x="0" y="-2819317"/>
            <a:chExt cx="16888877" cy="6514460"/>
          </a:xfrm>
        </p:grpSpPr>
        <p:sp>
          <p:nvSpPr>
            <p:cNvPr id="5" name="TextBox 5"/>
            <p:cNvSpPr txBox="1"/>
            <p:nvPr/>
          </p:nvSpPr>
          <p:spPr>
            <a:xfrm>
              <a:off x="0" y="-2819317"/>
              <a:ext cx="16888877" cy="3640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14"/>
                </a:lnSpc>
              </a:pPr>
              <a:r>
                <a:rPr lang="en-US" sz="7200" u="none" strike="noStrike" spc="-385" dirty="0">
                  <a:solidFill>
                    <a:srgbClr val="FFC00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PROJECT 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259382"/>
              <a:ext cx="11530762" cy="435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</a:pPr>
              <a:endParaRPr lang="en-US" sz="2104" spc="-115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6C430AC-92C4-8B0E-AFCB-CDE028C8F5BB}"/>
              </a:ext>
            </a:extLst>
          </p:cNvPr>
          <p:cNvSpPr txBox="1"/>
          <p:nvPr/>
        </p:nvSpPr>
        <p:spPr>
          <a:xfrm>
            <a:off x="1371600" y="2441291"/>
            <a:ext cx="150114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This project focuses on analysing pizza sales data using MYSQL to  understand customers purchasing behaviour and overall business performances . The analysis focuses on identifying key performance indicators such as total orders, total revenue, best-selling pizzas, sales by category and size, and peak ordering periods. These insights help in understanding customer preferences , demand patterns, and sales trends overtime.</a:t>
            </a:r>
          </a:p>
          <a:p>
            <a:pPr algn="l"/>
            <a:endParaRPr lang="en-IN" sz="3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Overall this pizza sales analysis demonstrates the practical application of MYSQL in real-world business scenarios. The result of this project can help pizza business improve menu planning, optimize pricing strategies, manage inventory effectively, and enhance customer satisfaction by making data-driven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A40D9-3039-9EE0-73E1-29C09FF4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E75CAA6-7458-D1E0-7C1F-E0B07B8F888A}"/>
              </a:ext>
            </a:extLst>
          </p:cNvPr>
          <p:cNvGrpSpPr/>
          <p:nvPr/>
        </p:nvGrpSpPr>
        <p:grpSpPr>
          <a:xfrm rot="10800000">
            <a:off x="666750" y="778044"/>
            <a:ext cx="16954500" cy="8953500"/>
            <a:chOff x="0" y="0"/>
            <a:chExt cx="3299803" cy="17425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2CD2DE-03BA-817C-819E-05FA560BD692}"/>
                </a:ext>
              </a:extLst>
            </p:cNvPr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F2C57C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9F23EFF-BA5C-380C-93FB-B9BC4F6F7366}"/>
              </a:ext>
            </a:extLst>
          </p:cNvPr>
          <p:cNvGrpSpPr/>
          <p:nvPr/>
        </p:nvGrpSpPr>
        <p:grpSpPr>
          <a:xfrm>
            <a:off x="1828800" y="778044"/>
            <a:ext cx="14093816" cy="9318456"/>
            <a:chOff x="-207359" y="-106581"/>
            <a:chExt cx="16888877" cy="380172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41B3B57-3F10-81BB-A4CA-E50EF9BE75E7}"/>
                </a:ext>
              </a:extLst>
            </p:cNvPr>
            <p:cNvSpPr txBox="1"/>
            <p:nvPr/>
          </p:nvSpPr>
          <p:spPr>
            <a:xfrm>
              <a:off x="-207359" y="-106581"/>
              <a:ext cx="16888877" cy="407511"/>
            </a:xfrm>
            <a:prstGeom prst="roundRect">
              <a:avLst/>
            </a:prstGeom>
            <a:no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14"/>
                </a:lnSpc>
              </a:pPr>
              <a:r>
                <a:rPr lang="en-US" sz="7200" u="none" strike="noStrike" spc="-385" dirty="0">
                  <a:solidFill>
                    <a:srgbClr val="FFC00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DATASET OVERVIEW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C7F0EF8-50A0-48A0-8C9E-CFCCB5E94C35}"/>
                </a:ext>
              </a:extLst>
            </p:cNvPr>
            <p:cNvSpPr txBox="1"/>
            <p:nvPr/>
          </p:nvSpPr>
          <p:spPr>
            <a:xfrm>
              <a:off x="0" y="3259382"/>
              <a:ext cx="11530762" cy="435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</a:pPr>
              <a:endParaRPr lang="en-US" sz="2104" spc="-115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662BDFA-28CF-B3EA-AEF3-99A5C1B18AE6}"/>
              </a:ext>
            </a:extLst>
          </p:cNvPr>
          <p:cNvSpPr txBox="1"/>
          <p:nvPr/>
        </p:nvSpPr>
        <p:spPr>
          <a:xfrm>
            <a:off x="1676400" y="2957231"/>
            <a:ext cx="13792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THE PROJECT USES 4 RELATIONAL TABLES STRUCTURED AS:-</a:t>
            </a:r>
          </a:p>
          <a:p>
            <a:pPr algn="l"/>
            <a:endParaRPr lang="en-IN" sz="44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4400" b="1" dirty="0" err="1">
                <a:solidFill>
                  <a:schemeClr val="accent2">
                    <a:lumMod val="75000"/>
                  </a:schemeClr>
                </a:solidFill>
              </a:rPr>
              <a:t>pizza_types</a:t>
            </a:r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 – pizza names, categories, ingredients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 pizzas – size, type, and price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 orders – order timestamps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 order-details – quantities per order item </a:t>
            </a:r>
          </a:p>
        </p:txBody>
      </p:sp>
    </p:spTree>
    <p:extLst>
      <p:ext uri="{BB962C8B-B14F-4D97-AF65-F5344CB8AC3E}">
        <p14:creationId xmlns:p14="http://schemas.microsoft.com/office/powerpoint/2010/main" val="386366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6D1E1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143000" y="1153863"/>
            <a:ext cx="1263967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</a:pPr>
            <a:r>
              <a:rPr lang="en-US" sz="6600" b="1" spc="-384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List all the unique pizza category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9075" y="7815263"/>
            <a:ext cx="474322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 lang="en-US" sz="3000" b="1" spc="-165" dirty="0">
              <a:solidFill>
                <a:srgbClr val="3F3F3F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3482648" y="666750"/>
            <a:ext cx="4271952" cy="2686050"/>
            <a:chOff x="-1817533" y="455599"/>
            <a:chExt cx="1641604" cy="1146545"/>
          </a:xfrm>
        </p:grpSpPr>
        <p:sp>
          <p:nvSpPr>
            <p:cNvPr id="26" name="Freeform 26"/>
            <p:cNvSpPr/>
            <p:nvPr/>
          </p:nvSpPr>
          <p:spPr>
            <a:xfrm>
              <a:off x="-1817533" y="455599"/>
              <a:ext cx="1641604" cy="1146545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2"/>
              <a:stretch>
                <a:fillRect t="-129" b="-129"/>
              </a:stretch>
            </a:blipFill>
          </p:spPr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09BD333-E752-D7E1-175E-C54ABB7B23C4}"/>
              </a:ext>
            </a:extLst>
          </p:cNvPr>
          <p:cNvSpPr txBox="1"/>
          <p:nvPr/>
        </p:nvSpPr>
        <p:spPr>
          <a:xfrm>
            <a:off x="4605337" y="5033735"/>
            <a:ext cx="5715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SELECT DISTINCT    category FROM    </a:t>
            </a:r>
            <a:r>
              <a:rPr lang="en-IN" sz="6000" b="1" dirty="0" err="1">
                <a:solidFill>
                  <a:schemeClr val="accent6"/>
                </a:solidFill>
              </a:rPr>
              <a:t>pizza_types</a:t>
            </a:r>
            <a:r>
              <a:rPr lang="en-IN" sz="6000" b="1" dirty="0">
                <a:solidFill>
                  <a:schemeClr val="accent6"/>
                </a:solidFill>
              </a:rPr>
              <a:t>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567885-CADD-D818-1A65-5E717F051730}"/>
              </a:ext>
            </a:extLst>
          </p:cNvPr>
          <p:cNvSpPr txBox="1"/>
          <p:nvPr/>
        </p:nvSpPr>
        <p:spPr>
          <a:xfrm>
            <a:off x="1862137" y="373160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>
                    <a:lumMod val="75000"/>
                  </a:schemeClr>
                </a:solidFill>
              </a:rPr>
              <a:t>QUERY:-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3F08DBC-48E1-E567-6443-A20612DFB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0" y="5676900"/>
            <a:ext cx="427195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1737" y="495300"/>
            <a:ext cx="16954500" cy="8953500"/>
            <a:chOff x="0" y="0"/>
            <a:chExt cx="7623852" cy="40260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3855" cy="4026079"/>
            </a:xfrm>
            <a:custGeom>
              <a:avLst/>
              <a:gdLst/>
              <a:ahLst/>
              <a:cxnLst/>
              <a:rect l="l" t="t" r="r" b="b"/>
              <a:pathLst>
                <a:path w="7623855" h="4026079">
                  <a:moveTo>
                    <a:pt x="7276895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3746687"/>
                  </a:lnTo>
                  <a:cubicBezTo>
                    <a:pt x="0" y="3783197"/>
                    <a:pt x="13458" y="3818427"/>
                    <a:pt x="37800" y="3845639"/>
                  </a:cubicBezTo>
                  <a:lnTo>
                    <a:pt x="154967" y="3976615"/>
                  </a:lnTo>
                  <a:cubicBezTo>
                    <a:pt x="183122" y="4008090"/>
                    <a:pt x="223353" y="4026080"/>
                    <a:pt x="265584" y="4026079"/>
                  </a:cubicBezTo>
                  <a:lnTo>
                    <a:pt x="7475438" y="4026079"/>
                  </a:lnTo>
                  <a:cubicBezTo>
                    <a:pt x="7514801" y="4026079"/>
                    <a:pt x="7552551" y="4010443"/>
                    <a:pt x="7580385" y="3982610"/>
                  </a:cubicBezTo>
                  <a:cubicBezTo>
                    <a:pt x="7608218" y="3954777"/>
                    <a:pt x="7623855" y="3917027"/>
                    <a:pt x="7623855" y="3877664"/>
                  </a:cubicBezTo>
                  <a:lnTo>
                    <a:pt x="7623855" y="366141"/>
                  </a:lnTo>
                  <a:cubicBezTo>
                    <a:pt x="7623855" y="329143"/>
                    <a:pt x="7610035" y="293478"/>
                    <a:pt x="7585105" y="266140"/>
                  </a:cubicBezTo>
                  <a:lnTo>
                    <a:pt x="7386562" y="48414"/>
                  </a:lnTo>
                  <a:cubicBezTo>
                    <a:pt x="7358440" y="17574"/>
                    <a:pt x="7318632" y="0"/>
                    <a:pt x="7276895" y="0"/>
                  </a:cubicBezTo>
                  <a:close/>
                </a:path>
              </a:pathLst>
            </a:custGeom>
            <a:solidFill>
              <a:srgbClr val="6D1E1E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115050" y="1995488"/>
            <a:ext cx="2571750" cy="918806"/>
            <a:chOff x="0" y="-19050"/>
            <a:chExt cx="3429000" cy="122507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9050"/>
              <a:ext cx="342842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78557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15050" y="5576888"/>
            <a:ext cx="2571750" cy="1376006"/>
            <a:chOff x="0" y="-19049"/>
            <a:chExt cx="3429000" cy="1834675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9049"/>
              <a:ext cx="342842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388158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916025" y="1995488"/>
            <a:ext cx="2571750" cy="918806"/>
            <a:chOff x="0" y="-19050"/>
            <a:chExt cx="3429000" cy="1225075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19050"/>
              <a:ext cx="342842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78557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916025" y="5576888"/>
            <a:ext cx="2571750" cy="1376006"/>
            <a:chOff x="0" y="-19049"/>
            <a:chExt cx="3429000" cy="1834675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19049"/>
              <a:ext cx="342842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388158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b="1" spc="-115" dirty="0">
                <a:solidFill>
                  <a:srgbClr val="F2C57C"/>
                </a:solidFill>
                <a:latin typeface="Work Sans Bold"/>
                <a:ea typeface="Work Sans Bold"/>
                <a:cs typeface="Work Sans Bold"/>
                <a:sym typeface="Work Sans Bold"/>
              </a:endParaRPr>
            </a:p>
          </p:txBody>
        </p: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2913D378-B14A-FDBE-D72A-17A7D096B8A0}"/>
              </a:ext>
            </a:extLst>
          </p:cNvPr>
          <p:cNvGrpSpPr/>
          <p:nvPr/>
        </p:nvGrpSpPr>
        <p:grpSpPr>
          <a:xfrm rot="5400000">
            <a:off x="8214567" y="-5897043"/>
            <a:ext cx="1691751" cy="15559520"/>
            <a:chOff x="0" y="0"/>
            <a:chExt cx="1434943" cy="2358123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5E6D0177-82F5-CCF3-635E-55957F39F544}"/>
                </a:ext>
              </a:extLst>
            </p:cNvPr>
            <p:cNvSpPr/>
            <p:nvPr/>
          </p:nvSpPr>
          <p:spPr>
            <a:xfrm>
              <a:off x="0" y="0"/>
              <a:ext cx="1434943" cy="2358124"/>
            </a:xfrm>
            <a:custGeom>
              <a:avLst/>
              <a:gdLst/>
              <a:ahLst/>
              <a:cxnLst/>
              <a:rect l="l" t="t" r="r" b="b"/>
              <a:pathLst>
                <a:path w="1434943" h="235812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2301284"/>
                  </a:lnTo>
                  <a:cubicBezTo>
                    <a:pt x="1434943" y="2332676"/>
                    <a:pt x="1409495" y="2358124"/>
                    <a:pt x="1378104" y="2358124"/>
                  </a:cubicBezTo>
                  <a:lnTo>
                    <a:pt x="56839" y="2358124"/>
                  </a:lnTo>
                  <a:cubicBezTo>
                    <a:pt x="25448" y="2358124"/>
                    <a:pt x="0" y="2332676"/>
                    <a:pt x="0" y="2301284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C57C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4C1CD597-AA12-3D5D-B32E-8DDA4A0C790F}"/>
                </a:ext>
              </a:extLst>
            </p:cNvPr>
            <p:cNvSpPr txBox="1"/>
            <p:nvPr/>
          </p:nvSpPr>
          <p:spPr>
            <a:xfrm>
              <a:off x="0" y="-57150"/>
              <a:ext cx="143494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4CCF205-1CF3-11B5-BFCA-915FD929CD49}"/>
              </a:ext>
            </a:extLst>
          </p:cNvPr>
          <p:cNvSpPr txBox="1"/>
          <p:nvPr/>
        </p:nvSpPr>
        <p:spPr>
          <a:xfrm>
            <a:off x="1318776" y="1219605"/>
            <a:ext cx="149352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DISPLAY </a:t>
            </a:r>
            <a:r>
              <a:rPr lang="en-IN" sz="3200" dirty="0" err="1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pizza_type_id</a:t>
            </a:r>
            <a:r>
              <a:rPr lang="en-IN" sz="32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name and ingredients, replacing null ingredients with “Missing Data”. Show first 5 rows</a:t>
            </a:r>
            <a:endParaRPr lang="en-IN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33A220-5D02-47B6-5F80-F97E0AE52B07}"/>
              </a:ext>
            </a:extLst>
          </p:cNvPr>
          <p:cNvSpPr txBox="1"/>
          <p:nvPr/>
        </p:nvSpPr>
        <p:spPr>
          <a:xfrm>
            <a:off x="3733800" y="3815114"/>
            <a:ext cx="6781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6">
                    <a:lumMod val="75000"/>
                  </a:schemeClr>
                </a:solidFill>
              </a:rPr>
              <a:t>SELECT     </a:t>
            </a:r>
            <a:r>
              <a:rPr lang="en-IN" sz="4400" dirty="0" err="1">
                <a:solidFill>
                  <a:schemeClr val="accent6">
                    <a:lumMod val="75000"/>
                  </a:schemeClr>
                </a:solidFill>
              </a:rPr>
              <a:t>pizza_type_id</a:t>
            </a:r>
            <a:r>
              <a:rPr lang="en-IN" sz="4400" dirty="0">
                <a:solidFill>
                  <a:schemeClr val="accent6">
                    <a:lumMod val="75000"/>
                  </a:schemeClr>
                </a:solidFill>
              </a:rPr>
              <a:t>,    name,    COALESCE(ingredients, 'Missing Data') AS ingredients FROM    </a:t>
            </a:r>
            <a:r>
              <a:rPr lang="en-IN" sz="4400" dirty="0" err="1">
                <a:solidFill>
                  <a:schemeClr val="accent6">
                    <a:lumMod val="75000"/>
                  </a:schemeClr>
                </a:solidFill>
              </a:rPr>
              <a:t>pizza_types</a:t>
            </a:r>
            <a:r>
              <a:rPr lang="en-IN" sz="4400" dirty="0">
                <a:solidFill>
                  <a:schemeClr val="accent6">
                    <a:lumMod val="75000"/>
                  </a:schemeClr>
                </a:solidFill>
              </a:rPr>
              <a:t> LIMIT 5;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4AB0CF-91F9-55E1-B14F-2BACE4AD1E12}"/>
              </a:ext>
            </a:extLst>
          </p:cNvPr>
          <p:cNvSpPr txBox="1"/>
          <p:nvPr/>
        </p:nvSpPr>
        <p:spPr>
          <a:xfrm>
            <a:off x="1543050" y="2838427"/>
            <a:ext cx="2571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>
                    <a:lumMod val="75000"/>
                  </a:schemeClr>
                </a:solidFill>
              </a:rPr>
              <a:t>QUERY:-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7B30195-C3FF-E64D-3DCE-816AEFE95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471145"/>
            <a:ext cx="7162800" cy="4585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B4686-194E-8514-2595-5B7921CF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E080C5-B8F4-7F8C-899E-CDE3B0E38141}"/>
              </a:ext>
            </a:extLst>
          </p:cNvPr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F9E826-FB00-6339-1B4D-0A2CE86E422D}"/>
                </a:ext>
              </a:extLst>
            </p:cNvPr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6D1E1E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C430030B-81CB-E79E-A6E2-FF986BC29EE8}"/>
              </a:ext>
            </a:extLst>
          </p:cNvPr>
          <p:cNvSpPr txBox="1"/>
          <p:nvPr/>
        </p:nvSpPr>
        <p:spPr>
          <a:xfrm>
            <a:off x="1143000" y="1153863"/>
            <a:ext cx="12639675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6649"/>
              </a:lnSpc>
            </a:pPr>
            <a:r>
              <a:rPr lang="en-IN" sz="6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Check for pizzas if  missing a price </a:t>
            </a:r>
            <a:endParaRPr lang="en-US" sz="6600" b="1" spc="-384" dirty="0">
              <a:solidFill>
                <a:srgbClr val="F2C57C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A662BAC-5623-F655-11BB-70C37F1028FE}"/>
              </a:ext>
            </a:extLst>
          </p:cNvPr>
          <p:cNvSpPr txBox="1"/>
          <p:nvPr/>
        </p:nvSpPr>
        <p:spPr>
          <a:xfrm>
            <a:off x="1009075" y="7815263"/>
            <a:ext cx="474322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 lang="en-US" sz="3000" b="1" spc="-165" dirty="0">
              <a:solidFill>
                <a:srgbClr val="3F3F3F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6287546-0589-FB31-06DB-3291590414BB}"/>
              </a:ext>
            </a:extLst>
          </p:cNvPr>
          <p:cNvGrpSpPr/>
          <p:nvPr/>
        </p:nvGrpSpPr>
        <p:grpSpPr>
          <a:xfrm>
            <a:off x="13482648" y="666750"/>
            <a:ext cx="4271952" cy="2686050"/>
            <a:chOff x="-1817533" y="455599"/>
            <a:chExt cx="1641604" cy="1146545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912A6FF-0CE2-DA7C-7984-3E3EE57723A8}"/>
                </a:ext>
              </a:extLst>
            </p:cNvPr>
            <p:cNvSpPr/>
            <p:nvPr/>
          </p:nvSpPr>
          <p:spPr>
            <a:xfrm>
              <a:off x="-1817533" y="455599"/>
              <a:ext cx="1641604" cy="1146545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2"/>
              <a:stretch>
                <a:fillRect t="-129" b="-129"/>
              </a:stretch>
            </a:blipFill>
          </p:spPr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92AA1F1-AB24-74E5-7D65-A633CD487562}"/>
              </a:ext>
            </a:extLst>
          </p:cNvPr>
          <p:cNvSpPr txBox="1"/>
          <p:nvPr/>
        </p:nvSpPr>
        <p:spPr>
          <a:xfrm>
            <a:off x="4605337" y="5033735"/>
            <a:ext cx="5715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solidFill>
                  <a:schemeClr val="accent6"/>
                </a:solidFill>
              </a:rPr>
              <a:t>SELECT     *FROM    pizzas  WHERE    price  IS NULL;</a:t>
            </a:r>
          </a:p>
          <a:p>
            <a:endParaRPr lang="en-IN" sz="6000" dirty="0">
              <a:solidFill>
                <a:schemeClr val="accent6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9713A5-243B-5FAA-8C96-4B8AC6292DE0}"/>
              </a:ext>
            </a:extLst>
          </p:cNvPr>
          <p:cNvSpPr txBox="1"/>
          <p:nvPr/>
        </p:nvSpPr>
        <p:spPr>
          <a:xfrm>
            <a:off x="1862137" y="373160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/>
                </a:solidFill>
              </a:rPr>
              <a:t>QUERY:-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21B9C4-DA7F-AEB9-DB51-3AE6C665D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0" y="6302548"/>
            <a:ext cx="4613061" cy="356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376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53C2B-0BBF-4576-9CE7-38915210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F26A45A-37D4-D24A-1903-EB8A4BDD1953}"/>
              </a:ext>
            </a:extLst>
          </p:cNvPr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97D841F-6830-13D9-66DE-0412A8E69F9A}"/>
                </a:ext>
              </a:extLst>
            </p:cNvPr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6D1E1E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4B73753D-45BF-E9AC-7DF4-44D5D5F10DB8}"/>
              </a:ext>
            </a:extLst>
          </p:cNvPr>
          <p:cNvSpPr txBox="1"/>
          <p:nvPr/>
        </p:nvSpPr>
        <p:spPr>
          <a:xfrm>
            <a:off x="1142999" y="1305051"/>
            <a:ext cx="1263967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6649"/>
              </a:lnSpc>
            </a:pPr>
            <a:r>
              <a:rPr lang="en-US" sz="6600" b="1" spc="-384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Orders placed on “2015-01-01”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68E7499-95FC-D36D-58C6-A5FC7E6950D8}"/>
              </a:ext>
            </a:extLst>
          </p:cNvPr>
          <p:cNvSpPr txBox="1"/>
          <p:nvPr/>
        </p:nvSpPr>
        <p:spPr>
          <a:xfrm>
            <a:off x="1009075" y="7815263"/>
            <a:ext cx="474322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 lang="en-US" sz="3000" b="1" spc="-165" dirty="0">
              <a:solidFill>
                <a:srgbClr val="3F3F3F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AB9D2F0-CFBB-D2BE-F1D6-24B576900110}"/>
              </a:ext>
            </a:extLst>
          </p:cNvPr>
          <p:cNvGrpSpPr/>
          <p:nvPr/>
        </p:nvGrpSpPr>
        <p:grpSpPr>
          <a:xfrm>
            <a:off x="13482648" y="666750"/>
            <a:ext cx="4271952" cy="2686050"/>
            <a:chOff x="-1817533" y="455599"/>
            <a:chExt cx="1641604" cy="1146545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8886946-23BC-46D1-F1A2-5859635CFB0A}"/>
                </a:ext>
              </a:extLst>
            </p:cNvPr>
            <p:cNvSpPr/>
            <p:nvPr/>
          </p:nvSpPr>
          <p:spPr>
            <a:xfrm>
              <a:off x="-1817533" y="455599"/>
              <a:ext cx="1641604" cy="1146545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2"/>
              <a:stretch>
                <a:fillRect t="-129" b="-129"/>
              </a:stretch>
            </a:blipFill>
          </p:spPr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5B98DF4-EB58-F523-A0C8-3AE69A9D238C}"/>
              </a:ext>
            </a:extLst>
          </p:cNvPr>
          <p:cNvSpPr txBox="1"/>
          <p:nvPr/>
        </p:nvSpPr>
        <p:spPr>
          <a:xfrm>
            <a:off x="1862137" y="373160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/>
                </a:solidFill>
              </a:rPr>
              <a:t>QUERY:-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6EB07-8FE5-6A37-AA4A-E978BD723461}"/>
              </a:ext>
            </a:extLst>
          </p:cNvPr>
          <p:cNvSpPr txBox="1"/>
          <p:nvPr/>
        </p:nvSpPr>
        <p:spPr>
          <a:xfrm>
            <a:off x="4572000" y="4958834"/>
            <a:ext cx="6781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accent6"/>
                </a:solidFill>
              </a:rPr>
              <a:t>select * from orders where </a:t>
            </a:r>
            <a:r>
              <a:rPr lang="en-IN" sz="5400" dirty="0" err="1">
                <a:solidFill>
                  <a:schemeClr val="accent6"/>
                </a:solidFill>
              </a:rPr>
              <a:t>order_date</a:t>
            </a:r>
            <a:r>
              <a:rPr lang="en-IN" sz="5400" dirty="0">
                <a:solidFill>
                  <a:schemeClr val="accent6"/>
                </a:solidFill>
              </a:rPr>
              <a:t>="2015-01-01";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6F88B4-1DFA-A91F-8496-131407088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4654932"/>
            <a:ext cx="4271951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823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6522C-5107-BDC6-8DC7-FA26ECE2A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CEC31F-02B5-EA11-7231-24E8710C6AB7}"/>
              </a:ext>
            </a:extLst>
          </p:cNvPr>
          <p:cNvGrpSpPr/>
          <p:nvPr/>
        </p:nvGrpSpPr>
        <p:grpSpPr>
          <a:xfrm>
            <a:off x="771737" y="495300"/>
            <a:ext cx="16954500" cy="8953500"/>
            <a:chOff x="0" y="0"/>
            <a:chExt cx="7623852" cy="402607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B3844E-A1C3-2696-7B7E-908373780862}"/>
                </a:ext>
              </a:extLst>
            </p:cNvPr>
            <p:cNvSpPr/>
            <p:nvPr/>
          </p:nvSpPr>
          <p:spPr>
            <a:xfrm>
              <a:off x="0" y="0"/>
              <a:ext cx="7623855" cy="4026079"/>
            </a:xfrm>
            <a:custGeom>
              <a:avLst/>
              <a:gdLst/>
              <a:ahLst/>
              <a:cxnLst/>
              <a:rect l="l" t="t" r="r" b="b"/>
              <a:pathLst>
                <a:path w="7623855" h="4026079">
                  <a:moveTo>
                    <a:pt x="7276895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3746687"/>
                  </a:lnTo>
                  <a:cubicBezTo>
                    <a:pt x="0" y="3783197"/>
                    <a:pt x="13458" y="3818427"/>
                    <a:pt x="37800" y="3845639"/>
                  </a:cubicBezTo>
                  <a:lnTo>
                    <a:pt x="154967" y="3976615"/>
                  </a:lnTo>
                  <a:cubicBezTo>
                    <a:pt x="183122" y="4008090"/>
                    <a:pt x="223353" y="4026080"/>
                    <a:pt x="265584" y="4026079"/>
                  </a:cubicBezTo>
                  <a:lnTo>
                    <a:pt x="7475438" y="4026079"/>
                  </a:lnTo>
                  <a:cubicBezTo>
                    <a:pt x="7514801" y="4026079"/>
                    <a:pt x="7552551" y="4010443"/>
                    <a:pt x="7580385" y="3982610"/>
                  </a:cubicBezTo>
                  <a:cubicBezTo>
                    <a:pt x="7608218" y="3954777"/>
                    <a:pt x="7623855" y="3917027"/>
                    <a:pt x="7623855" y="3877664"/>
                  </a:cubicBezTo>
                  <a:lnTo>
                    <a:pt x="7623855" y="366141"/>
                  </a:lnTo>
                  <a:cubicBezTo>
                    <a:pt x="7623855" y="329143"/>
                    <a:pt x="7610035" y="293478"/>
                    <a:pt x="7585105" y="266140"/>
                  </a:cubicBezTo>
                  <a:lnTo>
                    <a:pt x="7386562" y="48414"/>
                  </a:lnTo>
                  <a:cubicBezTo>
                    <a:pt x="7358440" y="17574"/>
                    <a:pt x="7318632" y="0"/>
                    <a:pt x="7276895" y="0"/>
                  </a:cubicBezTo>
                  <a:close/>
                </a:path>
              </a:pathLst>
            </a:custGeom>
            <a:solidFill>
              <a:srgbClr val="6D1E1E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B188BD1-A277-91A9-17A2-E944C9C7EFB0}"/>
              </a:ext>
            </a:extLst>
          </p:cNvPr>
          <p:cNvGrpSpPr/>
          <p:nvPr/>
        </p:nvGrpSpPr>
        <p:grpSpPr>
          <a:xfrm>
            <a:off x="6115050" y="1995488"/>
            <a:ext cx="2571750" cy="918806"/>
            <a:chOff x="0" y="-19050"/>
            <a:chExt cx="3429000" cy="1225075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E54BC80-4C07-99C1-172C-65393FE40E8F}"/>
                </a:ext>
              </a:extLst>
            </p:cNvPr>
            <p:cNvSpPr txBox="1"/>
            <p:nvPr/>
          </p:nvSpPr>
          <p:spPr>
            <a:xfrm>
              <a:off x="0" y="-19050"/>
              <a:ext cx="342842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C057415A-1358-85D9-E52F-E1517F1986D4}"/>
                </a:ext>
              </a:extLst>
            </p:cNvPr>
            <p:cNvSpPr txBox="1"/>
            <p:nvPr/>
          </p:nvSpPr>
          <p:spPr>
            <a:xfrm>
              <a:off x="0" y="778557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DB0AA19-B770-99E1-64DB-7C9E9ACC19E2}"/>
              </a:ext>
            </a:extLst>
          </p:cNvPr>
          <p:cNvGrpSpPr/>
          <p:nvPr/>
        </p:nvGrpSpPr>
        <p:grpSpPr>
          <a:xfrm>
            <a:off x="6115050" y="5576888"/>
            <a:ext cx="2571750" cy="1376006"/>
            <a:chOff x="0" y="-19049"/>
            <a:chExt cx="3429000" cy="1834675"/>
          </a:xfrm>
        </p:grpSpPr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056C97F-B6CF-8022-3BFA-6045E7BAF856}"/>
                </a:ext>
              </a:extLst>
            </p:cNvPr>
            <p:cNvSpPr txBox="1"/>
            <p:nvPr/>
          </p:nvSpPr>
          <p:spPr>
            <a:xfrm>
              <a:off x="0" y="-19049"/>
              <a:ext cx="342842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C4DFF7ED-2859-5DC9-EF70-F2550DB3E4A7}"/>
                </a:ext>
              </a:extLst>
            </p:cNvPr>
            <p:cNvSpPr txBox="1"/>
            <p:nvPr/>
          </p:nvSpPr>
          <p:spPr>
            <a:xfrm>
              <a:off x="0" y="1388158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C76F704F-9516-3928-C639-988BC04AD213}"/>
              </a:ext>
            </a:extLst>
          </p:cNvPr>
          <p:cNvGrpSpPr/>
          <p:nvPr/>
        </p:nvGrpSpPr>
        <p:grpSpPr>
          <a:xfrm>
            <a:off x="13916025" y="1995488"/>
            <a:ext cx="2571750" cy="918806"/>
            <a:chOff x="0" y="-19050"/>
            <a:chExt cx="3429000" cy="1225075"/>
          </a:xfrm>
        </p:grpSpPr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DF94A4A-4071-CE51-5A55-CAC26DEF3C4A}"/>
                </a:ext>
              </a:extLst>
            </p:cNvPr>
            <p:cNvSpPr txBox="1"/>
            <p:nvPr/>
          </p:nvSpPr>
          <p:spPr>
            <a:xfrm>
              <a:off x="0" y="-19050"/>
              <a:ext cx="342842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C45A7D2F-33A1-2FC0-B59B-A040AAC44CCB}"/>
                </a:ext>
              </a:extLst>
            </p:cNvPr>
            <p:cNvSpPr txBox="1"/>
            <p:nvPr/>
          </p:nvSpPr>
          <p:spPr>
            <a:xfrm>
              <a:off x="0" y="778557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B99F2A2-0BF4-D118-95B2-149A5A40DAFD}"/>
              </a:ext>
            </a:extLst>
          </p:cNvPr>
          <p:cNvGrpSpPr/>
          <p:nvPr/>
        </p:nvGrpSpPr>
        <p:grpSpPr>
          <a:xfrm>
            <a:off x="13916025" y="5576888"/>
            <a:ext cx="2571750" cy="1376006"/>
            <a:chOff x="0" y="-19049"/>
            <a:chExt cx="3429000" cy="1834675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0CD759F4-FCBB-7430-084A-1B83D2B12191}"/>
                </a:ext>
              </a:extLst>
            </p:cNvPr>
            <p:cNvSpPr txBox="1"/>
            <p:nvPr/>
          </p:nvSpPr>
          <p:spPr>
            <a:xfrm>
              <a:off x="0" y="-19049"/>
              <a:ext cx="342842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3883A0C4-A267-E339-C9F7-A990F93FD39B}"/>
                </a:ext>
              </a:extLst>
            </p:cNvPr>
            <p:cNvSpPr txBox="1"/>
            <p:nvPr/>
          </p:nvSpPr>
          <p:spPr>
            <a:xfrm>
              <a:off x="0" y="1388158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b="1" spc="-115" dirty="0">
                <a:solidFill>
                  <a:srgbClr val="F2C57C"/>
                </a:solidFill>
                <a:latin typeface="Work Sans Bold"/>
                <a:ea typeface="Work Sans Bold"/>
                <a:cs typeface="Work Sans Bold"/>
                <a:sym typeface="Work Sans Bold"/>
              </a:endParaRPr>
            </a:p>
          </p:txBody>
        </p: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970080EA-28A8-45E1-8A0A-89CAB3729BDF}"/>
              </a:ext>
            </a:extLst>
          </p:cNvPr>
          <p:cNvGrpSpPr/>
          <p:nvPr/>
        </p:nvGrpSpPr>
        <p:grpSpPr>
          <a:xfrm rot="5400000">
            <a:off x="8214567" y="-5897043"/>
            <a:ext cx="1691751" cy="15559520"/>
            <a:chOff x="0" y="0"/>
            <a:chExt cx="1434943" cy="2358123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C6610BE-B0AE-7366-752F-9DE56C1526D0}"/>
                </a:ext>
              </a:extLst>
            </p:cNvPr>
            <p:cNvSpPr/>
            <p:nvPr/>
          </p:nvSpPr>
          <p:spPr>
            <a:xfrm>
              <a:off x="0" y="0"/>
              <a:ext cx="1434943" cy="2358124"/>
            </a:xfrm>
            <a:custGeom>
              <a:avLst/>
              <a:gdLst/>
              <a:ahLst/>
              <a:cxnLst/>
              <a:rect l="l" t="t" r="r" b="b"/>
              <a:pathLst>
                <a:path w="1434943" h="235812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2301284"/>
                  </a:lnTo>
                  <a:cubicBezTo>
                    <a:pt x="1434943" y="2332676"/>
                    <a:pt x="1409495" y="2358124"/>
                    <a:pt x="1378104" y="2358124"/>
                  </a:cubicBezTo>
                  <a:lnTo>
                    <a:pt x="56839" y="2358124"/>
                  </a:lnTo>
                  <a:cubicBezTo>
                    <a:pt x="25448" y="2358124"/>
                    <a:pt x="0" y="2332676"/>
                    <a:pt x="0" y="2301284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C57C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0C298CA1-60AF-1D8B-7310-F81AA8F6BA5E}"/>
                </a:ext>
              </a:extLst>
            </p:cNvPr>
            <p:cNvSpPr txBox="1"/>
            <p:nvPr/>
          </p:nvSpPr>
          <p:spPr>
            <a:xfrm>
              <a:off x="0" y="-57150"/>
              <a:ext cx="143494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F8D6DB1-E350-EC2C-CF65-B4C3E63DB958}"/>
              </a:ext>
            </a:extLst>
          </p:cNvPr>
          <p:cNvSpPr txBox="1"/>
          <p:nvPr/>
        </p:nvSpPr>
        <p:spPr>
          <a:xfrm>
            <a:off x="1447797" y="1347762"/>
            <a:ext cx="149352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 pizzas with price descending</a:t>
            </a:r>
            <a:endParaRPr lang="en-IN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15B976-FCFF-6BD1-5969-A77D1D0AF66F}"/>
              </a:ext>
            </a:extLst>
          </p:cNvPr>
          <p:cNvSpPr txBox="1"/>
          <p:nvPr/>
        </p:nvSpPr>
        <p:spPr>
          <a:xfrm>
            <a:off x="3733800" y="4914874"/>
            <a:ext cx="6781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solidFill>
                  <a:schemeClr val="accent6">
                    <a:lumMod val="75000"/>
                  </a:schemeClr>
                </a:solidFill>
              </a:rPr>
              <a:t>SELECT  * FROM    pizzas ORDER BY price DESC;</a:t>
            </a:r>
          </a:p>
          <a:p>
            <a:endParaRPr lang="en-IN" sz="6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F9F2C3-51CC-2856-A2A7-AE508C961A2E}"/>
              </a:ext>
            </a:extLst>
          </p:cNvPr>
          <p:cNvSpPr txBox="1"/>
          <p:nvPr/>
        </p:nvSpPr>
        <p:spPr>
          <a:xfrm>
            <a:off x="1543050" y="2838427"/>
            <a:ext cx="2571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>
                    <a:lumMod val="75000"/>
                  </a:schemeClr>
                </a:solidFill>
              </a:rPr>
              <a:t>QUERY:-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BA991F-19E5-B2C0-6782-1DDE24F51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998" y="4914874"/>
            <a:ext cx="4511741" cy="3696046"/>
          </a:xfrm>
          <a:prstGeom prst="rect">
            <a:avLst/>
          </a:prstGeom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id="{7C4DFC1D-498B-2758-E69C-AAFCE56DF770}"/>
              </a:ext>
            </a:extLst>
          </p:cNvPr>
          <p:cNvGrpSpPr/>
          <p:nvPr/>
        </p:nvGrpSpPr>
        <p:grpSpPr>
          <a:xfrm>
            <a:off x="13439778" y="994057"/>
            <a:ext cx="4010025" cy="1759936"/>
            <a:chOff x="0" y="0"/>
            <a:chExt cx="2639575" cy="1768076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9DB26433-2A07-D778-39F0-F3ED069CE7A2}"/>
                </a:ext>
              </a:extLst>
            </p:cNvPr>
            <p:cNvSpPr/>
            <p:nvPr/>
          </p:nvSpPr>
          <p:spPr>
            <a:xfrm>
              <a:off x="0" y="0"/>
              <a:ext cx="2639577" cy="1768076"/>
            </a:xfrm>
            <a:custGeom>
              <a:avLst/>
              <a:gdLst/>
              <a:ahLst/>
              <a:cxnLst/>
              <a:rect l="l" t="t" r="r" b="b"/>
              <a:pathLst>
                <a:path w="2639577" h="1768076">
                  <a:moveTo>
                    <a:pt x="2292619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488684"/>
                  </a:lnTo>
                  <a:cubicBezTo>
                    <a:pt x="0" y="1525195"/>
                    <a:pt x="13458" y="1560424"/>
                    <a:pt x="37800" y="1587636"/>
                  </a:cubicBezTo>
                  <a:lnTo>
                    <a:pt x="154967" y="1718612"/>
                  </a:lnTo>
                  <a:cubicBezTo>
                    <a:pt x="183122" y="1750088"/>
                    <a:pt x="223353" y="1768077"/>
                    <a:pt x="265584" y="1768076"/>
                  </a:cubicBezTo>
                  <a:lnTo>
                    <a:pt x="2491162" y="1768076"/>
                  </a:lnTo>
                  <a:cubicBezTo>
                    <a:pt x="2530524" y="1768077"/>
                    <a:pt x="2568274" y="1752440"/>
                    <a:pt x="2596107" y="1724607"/>
                  </a:cubicBezTo>
                  <a:cubicBezTo>
                    <a:pt x="2623941" y="1696774"/>
                    <a:pt x="2639577" y="1659024"/>
                    <a:pt x="2639577" y="1619662"/>
                  </a:cubicBezTo>
                  <a:lnTo>
                    <a:pt x="2639577" y="366141"/>
                  </a:lnTo>
                  <a:cubicBezTo>
                    <a:pt x="2639578" y="329143"/>
                    <a:pt x="2625759" y="293478"/>
                    <a:pt x="2600828" y="266140"/>
                  </a:cubicBezTo>
                  <a:lnTo>
                    <a:pt x="2402286" y="48414"/>
                  </a:lnTo>
                  <a:cubicBezTo>
                    <a:pt x="2374163" y="17574"/>
                    <a:pt x="2334355" y="0"/>
                    <a:pt x="2292619" y="0"/>
                  </a:cubicBezTo>
                  <a:close/>
                </a:path>
              </a:pathLst>
            </a:custGeom>
            <a:blipFill>
              <a:blip r:embed="rId3"/>
              <a:stretch>
                <a:fillRect l="-174" r="-174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071741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977F46-329C-3C6B-3F2B-9183342B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EF8F20D-91CD-B517-FC84-A045ED361CC6}"/>
              </a:ext>
            </a:extLst>
          </p:cNvPr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57309E9-A5A1-1781-E696-CE1D750BE43D}"/>
                </a:ext>
              </a:extLst>
            </p:cNvPr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6D1E1E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15D8756E-A8AC-C5CA-C2D5-468198C4ED83}"/>
              </a:ext>
            </a:extLst>
          </p:cNvPr>
          <p:cNvSpPr txBox="1"/>
          <p:nvPr/>
        </p:nvSpPr>
        <p:spPr>
          <a:xfrm>
            <a:off x="1143000" y="1153863"/>
            <a:ext cx="1263967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6649"/>
              </a:lnSpc>
            </a:pPr>
            <a:r>
              <a:rPr lang="en-IN" sz="6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Pizzas sold in size ”L” or “XL”</a:t>
            </a:r>
            <a:endParaRPr lang="en-US" sz="6600" b="1" spc="-384" dirty="0">
              <a:solidFill>
                <a:srgbClr val="F2C57C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57A6760-A870-74D4-EFD4-74F6659DF21E}"/>
              </a:ext>
            </a:extLst>
          </p:cNvPr>
          <p:cNvSpPr txBox="1"/>
          <p:nvPr/>
        </p:nvSpPr>
        <p:spPr>
          <a:xfrm>
            <a:off x="1009075" y="7815263"/>
            <a:ext cx="474322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 lang="en-US" sz="3000" b="1" spc="-165" dirty="0">
              <a:solidFill>
                <a:srgbClr val="3F3F3F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F4924808-CDF2-4E4F-BFB5-1959C752FD28}"/>
              </a:ext>
            </a:extLst>
          </p:cNvPr>
          <p:cNvGrpSpPr/>
          <p:nvPr/>
        </p:nvGrpSpPr>
        <p:grpSpPr>
          <a:xfrm>
            <a:off x="13482648" y="666750"/>
            <a:ext cx="4271952" cy="2686050"/>
            <a:chOff x="-1817533" y="455599"/>
            <a:chExt cx="1641604" cy="1146545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49C25FB6-6C5A-E47B-0947-4B0CE6D84BFB}"/>
                </a:ext>
              </a:extLst>
            </p:cNvPr>
            <p:cNvSpPr/>
            <p:nvPr/>
          </p:nvSpPr>
          <p:spPr>
            <a:xfrm>
              <a:off x="-1817533" y="455599"/>
              <a:ext cx="1641604" cy="1146545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2"/>
              <a:stretch>
                <a:fillRect t="-129" b="-129"/>
              </a:stretch>
            </a:blipFill>
          </p:spPr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79B1839-67CA-677F-1A73-2B9813AAC0F1}"/>
              </a:ext>
            </a:extLst>
          </p:cNvPr>
          <p:cNvSpPr txBox="1"/>
          <p:nvPr/>
        </p:nvSpPr>
        <p:spPr>
          <a:xfrm>
            <a:off x="4605337" y="5033735"/>
            <a:ext cx="5715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6"/>
                </a:solidFill>
              </a:rPr>
              <a:t>SELECT   * FROM    pizzas WHERE    size = 'L' OR size = 'XL';</a:t>
            </a:r>
          </a:p>
          <a:p>
            <a:endParaRPr lang="en-IN" sz="6000" b="1" dirty="0">
              <a:solidFill>
                <a:schemeClr val="accent6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571667-D997-02A3-28D4-F10D4854AB5B}"/>
              </a:ext>
            </a:extLst>
          </p:cNvPr>
          <p:cNvSpPr txBox="1"/>
          <p:nvPr/>
        </p:nvSpPr>
        <p:spPr>
          <a:xfrm>
            <a:off x="1862137" y="373160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>
                    <a:lumMod val="75000"/>
                  </a:schemeClr>
                </a:solidFill>
              </a:rPr>
              <a:t>QUERY:-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90507-E328-C6DC-287F-B70A1BB85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00" y="5344884"/>
            <a:ext cx="5581657" cy="444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26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95FB7-D312-83BE-CD8F-30BF0A38D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D1E0BA-B25B-2FE0-28A4-5CC88A05A30E}"/>
              </a:ext>
            </a:extLst>
          </p:cNvPr>
          <p:cNvGrpSpPr/>
          <p:nvPr/>
        </p:nvGrpSpPr>
        <p:grpSpPr>
          <a:xfrm>
            <a:off x="228600" y="342900"/>
            <a:ext cx="17830800" cy="8953500"/>
            <a:chOff x="0" y="0"/>
            <a:chExt cx="3299803" cy="17425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DEA3DE-64D5-39AC-8564-F826C5A49E7E}"/>
                </a:ext>
              </a:extLst>
            </p:cNvPr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F2C57C"/>
            </a:solid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59A3C47-6BB0-8666-D7FC-F367D2DAF7D1}"/>
              </a:ext>
            </a:extLst>
          </p:cNvPr>
          <p:cNvSpPr txBox="1"/>
          <p:nvPr/>
        </p:nvSpPr>
        <p:spPr>
          <a:xfrm>
            <a:off x="1460500" y="3028315"/>
            <a:ext cx="2565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u="sng" dirty="0">
                <a:solidFill>
                  <a:schemeClr val="accent2">
                    <a:lumMod val="75000"/>
                  </a:schemeClr>
                </a:solidFill>
              </a:rPr>
              <a:t>QUERY:-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337413-8295-E354-56E3-4822E67F9909}"/>
              </a:ext>
            </a:extLst>
          </p:cNvPr>
          <p:cNvSpPr txBox="1"/>
          <p:nvPr/>
        </p:nvSpPr>
        <p:spPr>
          <a:xfrm>
            <a:off x="1460500" y="800100"/>
            <a:ext cx="15697200" cy="208851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ts val="6999"/>
              </a:lnSpc>
            </a:pPr>
            <a:r>
              <a:rPr lang="en-IN" sz="6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Orders placed on “2015-02-15” or placed after 8 PM</a:t>
            </a:r>
            <a:endParaRPr lang="en-US" sz="6600" b="1" spc="-384" dirty="0">
              <a:solidFill>
                <a:srgbClr val="FFC000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A7D01-B30F-99FA-A75A-67C52F5C8609}"/>
              </a:ext>
            </a:extLst>
          </p:cNvPr>
          <p:cNvSpPr txBox="1"/>
          <p:nvPr/>
        </p:nvSpPr>
        <p:spPr>
          <a:xfrm>
            <a:off x="4343400" y="3668049"/>
            <a:ext cx="5033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select * from orders where </a:t>
            </a:r>
            <a:r>
              <a:rPr lang="en-IN" sz="4400" b="1" dirty="0" err="1">
                <a:solidFill>
                  <a:schemeClr val="accent2">
                    <a:lumMod val="75000"/>
                  </a:schemeClr>
                </a:solidFill>
              </a:rPr>
              <a:t>order_date</a:t>
            </a:r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="2015-01-15" or </a:t>
            </a:r>
            <a:r>
              <a:rPr lang="en-IN" sz="4400" b="1" dirty="0" err="1">
                <a:solidFill>
                  <a:schemeClr val="accent2">
                    <a:lumMod val="75000"/>
                  </a:schemeClr>
                </a:solidFill>
              </a:rPr>
              <a:t>order_time</a:t>
            </a:r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&gt;"20:00:00";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AF4018-0623-F831-EE45-BF5E8B359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543300"/>
            <a:ext cx="5410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63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1BD1C-B95A-8584-5CBD-2F1485E99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97E4623-DDBA-B081-45E6-6AB079ACA76C}"/>
              </a:ext>
            </a:extLst>
          </p:cNvPr>
          <p:cNvGrpSpPr/>
          <p:nvPr/>
        </p:nvGrpSpPr>
        <p:grpSpPr>
          <a:xfrm>
            <a:off x="666750" y="666750"/>
            <a:ext cx="16954500" cy="8953500"/>
            <a:chOff x="0" y="0"/>
            <a:chExt cx="7623852" cy="402607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956C6F-C096-E0B1-2FE9-4086277AFE37}"/>
                </a:ext>
              </a:extLst>
            </p:cNvPr>
            <p:cNvSpPr/>
            <p:nvPr/>
          </p:nvSpPr>
          <p:spPr>
            <a:xfrm>
              <a:off x="0" y="0"/>
              <a:ext cx="7623855" cy="4026079"/>
            </a:xfrm>
            <a:custGeom>
              <a:avLst/>
              <a:gdLst/>
              <a:ahLst/>
              <a:cxnLst/>
              <a:rect l="l" t="t" r="r" b="b"/>
              <a:pathLst>
                <a:path w="7623855" h="4026079">
                  <a:moveTo>
                    <a:pt x="7276895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3746687"/>
                  </a:lnTo>
                  <a:cubicBezTo>
                    <a:pt x="0" y="3783197"/>
                    <a:pt x="13458" y="3818427"/>
                    <a:pt x="37800" y="3845639"/>
                  </a:cubicBezTo>
                  <a:lnTo>
                    <a:pt x="154967" y="3976615"/>
                  </a:lnTo>
                  <a:cubicBezTo>
                    <a:pt x="183122" y="4008090"/>
                    <a:pt x="223353" y="4026080"/>
                    <a:pt x="265584" y="4026079"/>
                  </a:cubicBezTo>
                  <a:lnTo>
                    <a:pt x="7475438" y="4026079"/>
                  </a:lnTo>
                  <a:cubicBezTo>
                    <a:pt x="7514801" y="4026079"/>
                    <a:pt x="7552551" y="4010443"/>
                    <a:pt x="7580385" y="3982610"/>
                  </a:cubicBezTo>
                  <a:cubicBezTo>
                    <a:pt x="7608218" y="3954777"/>
                    <a:pt x="7623855" y="3917027"/>
                    <a:pt x="7623855" y="3877664"/>
                  </a:cubicBezTo>
                  <a:lnTo>
                    <a:pt x="7623855" y="366141"/>
                  </a:lnTo>
                  <a:cubicBezTo>
                    <a:pt x="7623855" y="329143"/>
                    <a:pt x="7610035" y="293478"/>
                    <a:pt x="7585105" y="266140"/>
                  </a:cubicBezTo>
                  <a:lnTo>
                    <a:pt x="7386562" y="48414"/>
                  </a:lnTo>
                  <a:cubicBezTo>
                    <a:pt x="7358440" y="17574"/>
                    <a:pt x="7318632" y="0"/>
                    <a:pt x="7276895" y="0"/>
                  </a:cubicBezTo>
                  <a:close/>
                </a:path>
              </a:pathLst>
            </a:custGeom>
            <a:solidFill>
              <a:srgbClr val="6D1E1E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B3CE938-CC08-4BEB-0F11-9DE415185FFF}"/>
              </a:ext>
            </a:extLst>
          </p:cNvPr>
          <p:cNvGrpSpPr/>
          <p:nvPr/>
        </p:nvGrpSpPr>
        <p:grpSpPr>
          <a:xfrm>
            <a:off x="6115050" y="1995488"/>
            <a:ext cx="2571750" cy="918806"/>
            <a:chOff x="0" y="-19050"/>
            <a:chExt cx="3429000" cy="1225075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B98E804-335A-6734-286A-4EFAAC91D97A}"/>
                </a:ext>
              </a:extLst>
            </p:cNvPr>
            <p:cNvSpPr txBox="1"/>
            <p:nvPr/>
          </p:nvSpPr>
          <p:spPr>
            <a:xfrm>
              <a:off x="0" y="-19050"/>
              <a:ext cx="342842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E50F87F-601F-7B46-7BA0-1DFA584C92B9}"/>
                </a:ext>
              </a:extLst>
            </p:cNvPr>
            <p:cNvSpPr txBox="1"/>
            <p:nvPr/>
          </p:nvSpPr>
          <p:spPr>
            <a:xfrm>
              <a:off x="0" y="778557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b="1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A1AF72C-DB2C-23F9-68D1-939C89E50C8E}"/>
              </a:ext>
            </a:extLst>
          </p:cNvPr>
          <p:cNvGrpSpPr/>
          <p:nvPr/>
        </p:nvGrpSpPr>
        <p:grpSpPr>
          <a:xfrm>
            <a:off x="6115050" y="5576888"/>
            <a:ext cx="2571750" cy="1376006"/>
            <a:chOff x="0" y="-19049"/>
            <a:chExt cx="3429000" cy="1834675"/>
          </a:xfrm>
        </p:grpSpPr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174D615-7281-9E3D-E014-3FD603389B4D}"/>
                </a:ext>
              </a:extLst>
            </p:cNvPr>
            <p:cNvSpPr txBox="1"/>
            <p:nvPr/>
          </p:nvSpPr>
          <p:spPr>
            <a:xfrm>
              <a:off x="0" y="-19049"/>
              <a:ext cx="342842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D2695367-1001-0976-C098-4DE7231D030E}"/>
                </a:ext>
              </a:extLst>
            </p:cNvPr>
            <p:cNvSpPr txBox="1"/>
            <p:nvPr/>
          </p:nvSpPr>
          <p:spPr>
            <a:xfrm>
              <a:off x="0" y="1388158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b="1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C2E2DE0C-0156-8C12-0049-B5A070968C39}"/>
              </a:ext>
            </a:extLst>
          </p:cNvPr>
          <p:cNvGrpSpPr/>
          <p:nvPr/>
        </p:nvGrpSpPr>
        <p:grpSpPr>
          <a:xfrm>
            <a:off x="13916025" y="1995488"/>
            <a:ext cx="2571750" cy="918806"/>
            <a:chOff x="0" y="-19050"/>
            <a:chExt cx="3429000" cy="1225075"/>
          </a:xfrm>
        </p:grpSpPr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E21142D-214C-B3A5-C716-EF0600A16919}"/>
                </a:ext>
              </a:extLst>
            </p:cNvPr>
            <p:cNvSpPr txBox="1"/>
            <p:nvPr/>
          </p:nvSpPr>
          <p:spPr>
            <a:xfrm>
              <a:off x="0" y="-19050"/>
              <a:ext cx="342842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D369CEB7-3F04-ACB8-C9A6-F37148F6AB61}"/>
                </a:ext>
              </a:extLst>
            </p:cNvPr>
            <p:cNvSpPr txBox="1"/>
            <p:nvPr/>
          </p:nvSpPr>
          <p:spPr>
            <a:xfrm>
              <a:off x="0" y="778557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b="1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42BC705A-B01E-D2AE-2497-60EB36FA61A7}"/>
              </a:ext>
            </a:extLst>
          </p:cNvPr>
          <p:cNvGrpSpPr/>
          <p:nvPr/>
        </p:nvGrpSpPr>
        <p:grpSpPr>
          <a:xfrm>
            <a:off x="13916025" y="5576888"/>
            <a:ext cx="2571750" cy="1376006"/>
            <a:chOff x="0" y="-19049"/>
            <a:chExt cx="3429000" cy="1834675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1B6B4E5-BE45-69E4-1389-1803884D6908}"/>
                </a:ext>
              </a:extLst>
            </p:cNvPr>
            <p:cNvSpPr txBox="1"/>
            <p:nvPr/>
          </p:nvSpPr>
          <p:spPr>
            <a:xfrm>
              <a:off x="0" y="-19049"/>
              <a:ext cx="342842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85878534-9859-0301-2678-868CE6DC09C0}"/>
                </a:ext>
              </a:extLst>
            </p:cNvPr>
            <p:cNvSpPr txBox="1"/>
            <p:nvPr/>
          </p:nvSpPr>
          <p:spPr>
            <a:xfrm>
              <a:off x="0" y="1388158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b="1" spc="-115" dirty="0">
                <a:solidFill>
                  <a:srgbClr val="F2C57C"/>
                </a:solidFill>
                <a:latin typeface="Work Sans Bold"/>
                <a:ea typeface="Work Sans Bold"/>
                <a:cs typeface="Work Sans Bold"/>
                <a:sym typeface="Work Sans Bold"/>
              </a:endParaRPr>
            </a:p>
          </p:txBody>
        </p: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ED4D83E6-3C17-F843-6E95-1E496FAFD784}"/>
              </a:ext>
            </a:extLst>
          </p:cNvPr>
          <p:cNvGrpSpPr/>
          <p:nvPr/>
        </p:nvGrpSpPr>
        <p:grpSpPr>
          <a:xfrm rot="5400000">
            <a:off x="8214567" y="-5897043"/>
            <a:ext cx="1691751" cy="15559520"/>
            <a:chOff x="0" y="0"/>
            <a:chExt cx="1434943" cy="2358123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8CA639E8-2C69-D419-FFDC-F6713F1EEA5E}"/>
                </a:ext>
              </a:extLst>
            </p:cNvPr>
            <p:cNvSpPr/>
            <p:nvPr/>
          </p:nvSpPr>
          <p:spPr>
            <a:xfrm>
              <a:off x="0" y="0"/>
              <a:ext cx="1434943" cy="2358124"/>
            </a:xfrm>
            <a:custGeom>
              <a:avLst/>
              <a:gdLst/>
              <a:ahLst/>
              <a:cxnLst/>
              <a:rect l="l" t="t" r="r" b="b"/>
              <a:pathLst>
                <a:path w="1434943" h="235812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2301284"/>
                  </a:lnTo>
                  <a:cubicBezTo>
                    <a:pt x="1434943" y="2332676"/>
                    <a:pt x="1409495" y="2358124"/>
                    <a:pt x="1378104" y="2358124"/>
                  </a:cubicBezTo>
                  <a:lnTo>
                    <a:pt x="56839" y="2358124"/>
                  </a:lnTo>
                  <a:cubicBezTo>
                    <a:pt x="25448" y="2358124"/>
                    <a:pt x="0" y="2332676"/>
                    <a:pt x="0" y="2301284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C57C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1B50C658-42BE-2588-5434-0A81066089AA}"/>
                </a:ext>
              </a:extLst>
            </p:cNvPr>
            <p:cNvSpPr txBox="1"/>
            <p:nvPr/>
          </p:nvSpPr>
          <p:spPr>
            <a:xfrm>
              <a:off x="0" y="-57150"/>
              <a:ext cx="143494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b="1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FFF5441-0646-2B8E-E1C8-250930FA864E}"/>
              </a:ext>
            </a:extLst>
          </p:cNvPr>
          <p:cNvSpPr txBox="1"/>
          <p:nvPr/>
        </p:nvSpPr>
        <p:spPr>
          <a:xfrm>
            <a:off x="1447797" y="1347762"/>
            <a:ext cx="149352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 quantity of pizzas sold</a:t>
            </a:r>
            <a:endParaRPr lang="en-IN" sz="5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0B2AC7-3183-0F90-1C69-6DCB49A9413E}"/>
              </a:ext>
            </a:extLst>
          </p:cNvPr>
          <p:cNvSpPr txBox="1"/>
          <p:nvPr/>
        </p:nvSpPr>
        <p:spPr>
          <a:xfrm>
            <a:off x="3472882" y="4632418"/>
            <a:ext cx="70635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SELECT     SUM(quantity)FROM    </a:t>
            </a:r>
            <a:r>
              <a:rPr lang="en-US" sz="6000" b="1" dirty="0" err="1">
                <a:solidFill>
                  <a:schemeClr val="accent6">
                    <a:lumMod val="75000"/>
                  </a:schemeClr>
                </a:solidFill>
              </a:rPr>
              <a:t>order_details</a:t>
            </a:r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;</a:t>
            </a:r>
            <a:endParaRPr lang="en-IN" sz="60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IN" sz="6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39781F-2010-B17E-28A3-3E32E1132BA0}"/>
              </a:ext>
            </a:extLst>
          </p:cNvPr>
          <p:cNvSpPr txBox="1"/>
          <p:nvPr/>
        </p:nvSpPr>
        <p:spPr>
          <a:xfrm>
            <a:off x="1543050" y="2838427"/>
            <a:ext cx="2571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>
                    <a:lumMod val="75000"/>
                  </a:schemeClr>
                </a:solidFill>
              </a:rPr>
              <a:t>QUERY:-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F54F4-DF65-6491-C896-9842C9A63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802" y="6295649"/>
            <a:ext cx="4097438" cy="2233913"/>
          </a:xfrm>
          <a:prstGeom prst="rect">
            <a:avLst/>
          </a:prstGeom>
        </p:spPr>
      </p:pic>
      <p:grpSp>
        <p:nvGrpSpPr>
          <p:cNvPr id="10" name="Group 8">
            <a:extLst>
              <a:ext uri="{FF2B5EF4-FFF2-40B4-BE49-F238E27FC236}">
                <a16:creationId xmlns:a16="http://schemas.microsoft.com/office/drawing/2014/main" id="{7AC4C819-D5A8-651B-6CF9-DB87EB460024}"/>
              </a:ext>
            </a:extLst>
          </p:cNvPr>
          <p:cNvGrpSpPr/>
          <p:nvPr/>
        </p:nvGrpSpPr>
        <p:grpSpPr>
          <a:xfrm>
            <a:off x="13259438" y="1036842"/>
            <a:ext cx="4010025" cy="1691751"/>
            <a:chOff x="0" y="0"/>
            <a:chExt cx="2639575" cy="1768076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8CFD839E-08BA-DA61-72C0-E21661E00E03}"/>
                </a:ext>
              </a:extLst>
            </p:cNvPr>
            <p:cNvSpPr/>
            <p:nvPr/>
          </p:nvSpPr>
          <p:spPr>
            <a:xfrm>
              <a:off x="0" y="0"/>
              <a:ext cx="2639577" cy="1768076"/>
            </a:xfrm>
            <a:custGeom>
              <a:avLst/>
              <a:gdLst/>
              <a:ahLst/>
              <a:cxnLst/>
              <a:rect l="l" t="t" r="r" b="b"/>
              <a:pathLst>
                <a:path w="2639577" h="1768076">
                  <a:moveTo>
                    <a:pt x="2292619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488684"/>
                  </a:lnTo>
                  <a:cubicBezTo>
                    <a:pt x="0" y="1525195"/>
                    <a:pt x="13458" y="1560424"/>
                    <a:pt x="37800" y="1587636"/>
                  </a:cubicBezTo>
                  <a:lnTo>
                    <a:pt x="154967" y="1718612"/>
                  </a:lnTo>
                  <a:cubicBezTo>
                    <a:pt x="183122" y="1750088"/>
                    <a:pt x="223353" y="1768077"/>
                    <a:pt x="265584" y="1768076"/>
                  </a:cubicBezTo>
                  <a:lnTo>
                    <a:pt x="2491162" y="1768076"/>
                  </a:lnTo>
                  <a:cubicBezTo>
                    <a:pt x="2530524" y="1768077"/>
                    <a:pt x="2568274" y="1752440"/>
                    <a:pt x="2596107" y="1724607"/>
                  </a:cubicBezTo>
                  <a:cubicBezTo>
                    <a:pt x="2623941" y="1696774"/>
                    <a:pt x="2639577" y="1659024"/>
                    <a:pt x="2639577" y="1619662"/>
                  </a:cubicBezTo>
                  <a:lnTo>
                    <a:pt x="2639577" y="366141"/>
                  </a:lnTo>
                  <a:cubicBezTo>
                    <a:pt x="2639578" y="329143"/>
                    <a:pt x="2625759" y="293478"/>
                    <a:pt x="2600828" y="266140"/>
                  </a:cubicBezTo>
                  <a:lnTo>
                    <a:pt x="2402286" y="48414"/>
                  </a:lnTo>
                  <a:cubicBezTo>
                    <a:pt x="2374163" y="17574"/>
                    <a:pt x="2334355" y="0"/>
                    <a:pt x="2292619" y="0"/>
                  </a:cubicBezTo>
                  <a:close/>
                </a:path>
              </a:pathLst>
            </a:custGeom>
            <a:blipFill>
              <a:blip r:embed="rId3"/>
              <a:stretch>
                <a:fillRect l="-174" r="-174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692116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FDA71-D367-666B-892B-B18199D2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101D3C3-30ED-4FA6-7DC0-53215304DA32}"/>
              </a:ext>
            </a:extLst>
          </p:cNvPr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733A9FE-060D-31F9-AC1F-688E9720F2C2}"/>
                </a:ext>
              </a:extLst>
            </p:cNvPr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6D1E1E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4867C611-365A-C5CF-C9AA-1BD49ECBE004}"/>
              </a:ext>
            </a:extLst>
          </p:cNvPr>
          <p:cNvSpPr txBox="1"/>
          <p:nvPr/>
        </p:nvSpPr>
        <p:spPr>
          <a:xfrm>
            <a:off x="1143000" y="1153863"/>
            <a:ext cx="1263967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6649"/>
              </a:lnSpc>
            </a:pPr>
            <a:r>
              <a:rPr lang="en-IN" sz="6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Average pizza price</a:t>
            </a:r>
            <a:endParaRPr lang="en-US" sz="6600" b="1" spc="-384" dirty="0">
              <a:solidFill>
                <a:srgbClr val="F2C57C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800DFF7-5313-4B42-032B-F824DDC0816C}"/>
              </a:ext>
            </a:extLst>
          </p:cNvPr>
          <p:cNvSpPr txBox="1"/>
          <p:nvPr/>
        </p:nvSpPr>
        <p:spPr>
          <a:xfrm>
            <a:off x="1009075" y="7815263"/>
            <a:ext cx="474322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 lang="en-US" sz="3000" b="1" spc="-165" dirty="0">
              <a:solidFill>
                <a:srgbClr val="3F3F3F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9F9A3A9-667E-3E33-D882-334A13E7016E}"/>
              </a:ext>
            </a:extLst>
          </p:cNvPr>
          <p:cNvGrpSpPr/>
          <p:nvPr/>
        </p:nvGrpSpPr>
        <p:grpSpPr>
          <a:xfrm>
            <a:off x="13482648" y="666750"/>
            <a:ext cx="4271952" cy="2686050"/>
            <a:chOff x="-1817533" y="455599"/>
            <a:chExt cx="1641604" cy="1146545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15A2866-EC0C-0318-4228-3CA110CA8F9E}"/>
                </a:ext>
              </a:extLst>
            </p:cNvPr>
            <p:cNvSpPr/>
            <p:nvPr/>
          </p:nvSpPr>
          <p:spPr>
            <a:xfrm>
              <a:off x="-1817533" y="455599"/>
              <a:ext cx="1641604" cy="1146545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2"/>
              <a:stretch>
                <a:fillRect t="-129" b="-129"/>
              </a:stretch>
            </a:blipFill>
          </p:spPr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31B9935-1D52-99BA-C4FB-9B3888CB8D00}"/>
              </a:ext>
            </a:extLst>
          </p:cNvPr>
          <p:cNvSpPr txBox="1"/>
          <p:nvPr/>
        </p:nvSpPr>
        <p:spPr>
          <a:xfrm>
            <a:off x="4605337" y="5033735"/>
            <a:ext cx="5715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accent6"/>
                </a:solidFill>
              </a:rPr>
              <a:t>SELECT     AVG(price) FROM    pizzas;</a:t>
            </a:r>
            <a:endParaRPr lang="en-IN" sz="6000" b="1" dirty="0">
              <a:solidFill>
                <a:schemeClr val="accent6"/>
              </a:solidFill>
            </a:endParaRPr>
          </a:p>
          <a:p>
            <a:endParaRPr lang="en-IN" sz="6000" b="1" dirty="0">
              <a:solidFill>
                <a:schemeClr val="accent6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E34F65-3A3C-8A7A-404B-4CCFF0242CBA}"/>
              </a:ext>
            </a:extLst>
          </p:cNvPr>
          <p:cNvSpPr txBox="1"/>
          <p:nvPr/>
        </p:nvSpPr>
        <p:spPr>
          <a:xfrm>
            <a:off x="1862137" y="373160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/>
                </a:solidFill>
              </a:rPr>
              <a:t>QUERY:-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DD85B4-BF78-B6F9-5C1E-BE611E8C4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0" y="5524500"/>
            <a:ext cx="4786294" cy="183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32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CFD57-2887-D1B7-5A2B-CC4929FE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DAC1D67-0B63-D16F-4CBB-B32AF1AE0744}"/>
              </a:ext>
            </a:extLst>
          </p:cNvPr>
          <p:cNvGrpSpPr/>
          <p:nvPr/>
        </p:nvGrpSpPr>
        <p:grpSpPr>
          <a:xfrm>
            <a:off x="228600" y="526071"/>
            <a:ext cx="16954500" cy="9570429"/>
            <a:chOff x="0" y="0"/>
            <a:chExt cx="3299803" cy="17425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95BC25-EE15-FD8D-FB24-A47BE6055DC2}"/>
                </a:ext>
              </a:extLst>
            </p:cNvPr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F2C57C"/>
            </a:solid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F080B99-D1BF-700F-410C-A074CB99FC3A}"/>
              </a:ext>
            </a:extLst>
          </p:cNvPr>
          <p:cNvSpPr txBox="1"/>
          <p:nvPr/>
        </p:nvSpPr>
        <p:spPr>
          <a:xfrm>
            <a:off x="1473200" y="2283764"/>
            <a:ext cx="2565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u="sng" dirty="0">
                <a:solidFill>
                  <a:schemeClr val="accent2">
                    <a:lumMod val="75000"/>
                  </a:schemeClr>
                </a:solidFill>
              </a:rPr>
              <a:t>QUERY:-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317A01-C312-8930-B3F1-E9EAC0611946}"/>
              </a:ext>
            </a:extLst>
          </p:cNvPr>
          <p:cNvSpPr txBox="1"/>
          <p:nvPr/>
        </p:nvSpPr>
        <p:spPr>
          <a:xfrm>
            <a:off x="1460500" y="800100"/>
            <a:ext cx="13779500" cy="10953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ts val="6999"/>
              </a:lnSpc>
            </a:pPr>
            <a:r>
              <a:rPr lang="en-IN" sz="6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 order value per order</a:t>
            </a:r>
            <a:endParaRPr lang="en-US" sz="6600" b="1" spc="-384" dirty="0">
              <a:solidFill>
                <a:srgbClr val="FFC000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57A875-DE73-730A-8732-9BDC37A0F286}"/>
              </a:ext>
            </a:extLst>
          </p:cNvPr>
          <p:cNvSpPr txBox="1"/>
          <p:nvPr/>
        </p:nvSpPr>
        <p:spPr>
          <a:xfrm>
            <a:off x="4038600" y="2734087"/>
            <a:ext cx="58674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SELECT   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</a:rPr>
              <a:t>o.order_id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, SUM(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</a:rPr>
              <a:t>p.price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 * 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</a:rPr>
              <a:t>od.quantity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) AS 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</a:rPr>
              <a:t>total_value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 FROM    orders AS o    JOIN    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</a:rPr>
              <a:t>order_details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 AS od ON 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</a:rPr>
              <a:t>o.order_id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</a:rPr>
              <a:t>od.order_id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        JOIN    pizzas AS p ON 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</a:rPr>
              <a:t>od.pizza_id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</a:rPr>
              <a:t>p.pizza_id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 GROUP BY </a:t>
            </a:r>
            <a:r>
              <a:rPr lang="en-IN" sz="4000" b="1" dirty="0" err="1">
                <a:solidFill>
                  <a:schemeClr val="accent2">
                    <a:lumMod val="75000"/>
                  </a:schemeClr>
                </a:solidFill>
              </a:rPr>
              <a:t>o.order_id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;</a:t>
            </a:r>
          </a:p>
          <a:p>
            <a:endParaRPr lang="en-IN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id="{33E4239A-D07F-9138-8D78-144D2E00ECA1}"/>
              </a:ext>
            </a:extLst>
          </p:cNvPr>
          <p:cNvGrpSpPr/>
          <p:nvPr/>
        </p:nvGrpSpPr>
        <p:grpSpPr>
          <a:xfrm>
            <a:off x="13525500" y="800100"/>
            <a:ext cx="3429000" cy="1095335"/>
            <a:chOff x="0" y="0"/>
            <a:chExt cx="1940193" cy="1465878"/>
          </a:xfrm>
        </p:grpSpPr>
        <p:sp>
          <p:nvSpPr>
            <p:cNvPr id="6" name="Freeform 28">
              <a:extLst>
                <a:ext uri="{FF2B5EF4-FFF2-40B4-BE49-F238E27FC236}">
                  <a16:creationId xmlns:a16="http://schemas.microsoft.com/office/drawing/2014/main" id="{29D109A9-33CD-1E4E-34C4-6BB385DB3112}"/>
                </a:ext>
              </a:extLst>
            </p:cNvPr>
            <p:cNvSpPr/>
            <p:nvPr/>
          </p:nvSpPr>
          <p:spPr>
            <a:xfrm>
              <a:off x="0" y="0"/>
              <a:ext cx="1940195" cy="1465891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2"/>
              <a:stretch>
                <a:fillRect t="-129" b="-129"/>
              </a:stretch>
            </a:blipFill>
          </p:spPr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B5E7D44-F757-3768-BC25-7AEAE05B2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3114761"/>
            <a:ext cx="5257800" cy="461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30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D4B93-4E10-2E4A-907B-5552A5C7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390584A-4797-E8F4-14CF-DC9167F405EA}"/>
              </a:ext>
            </a:extLst>
          </p:cNvPr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AE6768F-2FCB-7E10-D3D0-CB1F097D1A31}"/>
                </a:ext>
              </a:extLst>
            </p:cNvPr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6D1E1E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8A439EF8-52EE-5171-8A96-30EDC5662648}"/>
              </a:ext>
            </a:extLst>
          </p:cNvPr>
          <p:cNvSpPr txBox="1"/>
          <p:nvPr/>
        </p:nvSpPr>
        <p:spPr>
          <a:xfrm>
            <a:off x="1143000" y="1153863"/>
            <a:ext cx="12639675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6649"/>
              </a:lnSpc>
            </a:pPr>
            <a:r>
              <a:rPr lang="en-IN" sz="6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 quantity sold per pizza category </a:t>
            </a:r>
            <a:endParaRPr lang="en-US" sz="6600" b="1" spc="-384" dirty="0">
              <a:solidFill>
                <a:srgbClr val="F2C57C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8C9D3DE-3429-8493-E8AD-68A973FA6170}"/>
              </a:ext>
            </a:extLst>
          </p:cNvPr>
          <p:cNvSpPr txBox="1"/>
          <p:nvPr/>
        </p:nvSpPr>
        <p:spPr>
          <a:xfrm>
            <a:off x="1009075" y="7815263"/>
            <a:ext cx="474322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 lang="en-US" sz="3000" b="1" spc="-165" dirty="0">
              <a:solidFill>
                <a:srgbClr val="3F3F3F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C62C879-F592-A049-E0C8-94349D5E293D}"/>
              </a:ext>
            </a:extLst>
          </p:cNvPr>
          <p:cNvGrpSpPr/>
          <p:nvPr/>
        </p:nvGrpSpPr>
        <p:grpSpPr>
          <a:xfrm>
            <a:off x="13482648" y="666750"/>
            <a:ext cx="4271952" cy="2686050"/>
            <a:chOff x="-1817533" y="455599"/>
            <a:chExt cx="1641604" cy="1146545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8145E58-E32B-D160-27E4-A5F830DF1CC5}"/>
                </a:ext>
              </a:extLst>
            </p:cNvPr>
            <p:cNvSpPr/>
            <p:nvPr/>
          </p:nvSpPr>
          <p:spPr>
            <a:xfrm>
              <a:off x="-1817533" y="455599"/>
              <a:ext cx="1641604" cy="1146545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2"/>
              <a:stretch>
                <a:fillRect t="-129" b="-129"/>
              </a:stretch>
            </a:blipFill>
          </p:spPr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E448C7D-C1A6-6CEA-1EC2-2CC164C8F488}"/>
              </a:ext>
            </a:extLst>
          </p:cNvPr>
          <p:cNvSpPr txBox="1"/>
          <p:nvPr/>
        </p:nvSpPr>
        <p:spPr>
          <a:xfrm>
            <a:off x="4038600" y="4691331"/>
            <a:ext cx="746759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6"/>
                </a:solidFill>
              </a:rPr>
              <a:t>SELECT     </a:t>
            </a:r>
            <a:r>
              <a:rPr lang="en-IN" sz="4000" b="1" dirty="0" err="1">
                <a:solidFill>
                  <a:schemeClr val="accent6"/>
                </a:solidFill>
              </a:rPr>
              <a:t>pt.category</a:t>
            </a:r>
            <a:r>
              <a:rPr lang="en-IN" sz="4000" b="1" dirty="0">
                <a:solidFill>
                  <a:schemeClr val="accent6"/>
                </a:solidFill>
              </a:rPr>
              <a:t>, SUM(</a:t>
            </a:r>
            <a:r>
              <a:rPr lang="en-IN" sz="4000" b="1" dirty="0" err="1">
                <a:solidFill>
                  <a:schemeClr val="accent6"/>
                </a:solidFill>
              </a:rPr>
              <a:t>od.quantity</a:t>
            </a:r>
            <a:r>
              <a:rPr lang="en-IN" sz="4000" b="1" dirty="0">
                <a:solidFill>
                  <a:schemeClr val="accent6"/>
                </a:solidFill>
              </a:rPr>
              <a:t>) AS </a:t>
            </a:r>
            <a:r>
              <a:rPr lang="en-IN" sz="4000" b="1" dirty="0" err="1">
                <a:solidFill>
                  <a:schemeClr val="accent6"/>
                </a:solidFill>
              </a:rPr>
              <a:t>total_quantity</a:t>
            </a:r>
            <a:r>
              <a:rPr lang="en-IN" sz="4000" b="1" dirty="0">
                <a:solidFill>
                  <a:schemeClr val="accent6"/>
                </a:solidFill>
              </a:rPr>
              <a:t> FROM    </a:t>
            </a:r>
            <a:r>
              <a:rPr lang="en-IN" sz="4000" b="1" dirty="0" err="1">
                <a:solidFill>
                  <a:schemeClr val="accent6"/>
                </a:solidFill>
              </a:rPr>
              <a:t>pizza_types</a:t>
            </a:r>
            <a:r>
              <a:rPr lang="en-IN" sz="4000" b="1" dirty="0">
                <a:solidFill>
                  <a:schemeClr val="accent6"/>
                </a:solidFill>
              </a:rPr>
              <a:t> AS pt        JOIN    pizzas AS p ON </a:t>
            </a:r>
            <a:r>
              <a:rPr lang="en-IN" sz="4000" b="1" dirty="0" err="1">
                <a:solidFill>
                  <a:schemeClr val="accent6"/>
                </a:solidFill>
              </a:rPr>
              <a:t>pt.pizza_type_id</a:t>
            </a:r>
            <a:r>
              <a:rPr lang="en-IN" sz="4000" b="1" dirty="0">
                <a:solidFill>
                  <a:schemeClr val="accent6"/>
                </a:solidFill>
              </a:rPr>
              <a:t> = </a:t>
            </a:r>
            <a:r>
              <a:rPr lang="en-IN" sz="4000" b="1" dirty="0" err="1">
                <a:solidFill>
                  <a:schemeClr val="accent6"/>
                </a:solidFill>
              </a:rPr>
              <a:t>p.pizza_type_id</a:t>
            </a:r>
            <a:r>
              <a:rPr lang="en-IN" sz="4000" b="1" dirty="0">
                <a:solidFill>
                  <a:schemeClr val="accent6"/>
                </a:solidFill>
              </a:rPr>
              <a:t>     JOIN    </a:t>
            </a:r>
            <a:r>
              <a:rPr lang="en-IN" sz="4000" b="1" dirty="0" err="1">
                <a:solidFill>
                  <a:schemeClr val="accent6"/>
                </a:solidFill>
              </a:rPr>
              <a:t>order_details</a:t>
            </a:r>
            <a:r>
              <a:rPr lang="en-IN" sz="4000" b="1" dirty="0">
                <a:solidFill>
                  <a:schemeClr val="accent6"/>
                </a:solidFill>
              </a:rPr>
              <a:t> AS od ON </a:t>
            </a:r>
            <a:r>
              <a:rPr lang="en-IN" sz="4000" b="1" dirty="0" err="1">
                <a:solidFill>
                  <a:schemeClr val="accent6"/>
                </a:solidFill>
              </a:rPr>
              <a:t>p.pizza_id</a:t>
            </a:r>
            <a:r>
              <a:rPr lang="en-IN" sz="4000" b="1" dirty="0">
                <a:solidFill>
                  <a:schemeClr val="accent6"/>
                </a:solidFill>
              </a:rPr>
              <a:t> = </a:t>
            </a:r>
            <a:r>
              <a:rPr lang="en-IN" sz="4000" b="1" dirty="0" err="1">
                <a:solidFill>
                  <a:schemeClr val="accent6"/>
                </a:solidFill>
              </a:rPr>
              <a:t>od.pizza_id</a:t>
            </a:r>
            <a:r>
              <a:rPr lang="en-IN" sz="4000" b="1" dirty="0">
                <a:solidFill>
                  <a:schemeClr val="accent6"/>
                </a:solidFill>
              </a:rPr>
              <a:t> GROUP BY </a:t>
            </a:r>
            <a:r>
              <a:rPr lang="en-IN" sz="4000" b="1" dirty="0" err="1">
                <a:solidFill>
                  <a:schemeClr val="accent6"/>
                </a:solidFill>
              </a:rPr>
              <a:t>pt.category</a:t>
            </a:r>
            <a:r>
              <a:rPr lang="en-IN" sz="4000" b="1" dirty="0">
                <a:solidFill>
                  <a:schemeClr val="accent6"/>
                </a:solidFill>
              </a:rPr>
              <a:t>; </a:t>
            </a:r>
          </a:p>
          <a:p>
            <a:endParaRPr lang="en-IN" sz="4000" b="1" dirty="0">
              <a:solidFill>
                <a:schemeClr val="accent6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CD6BED-5F29-2FC7-3FDD-C2B511F50382}"/>
              </a:ext>
            </a:extLst>
          </p:cNvPr>
          <p:cNvSpPr txBox="1"/>
          <p:nvPr/>
        </p:nvSpPr>
        <p:spPr>
          <a:xfrm>
            <a:off x="1862137" y="373160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/>
                </a:solidFill>
              </a:rPr>
              <a:t>QUERY:-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1E8B3-1EE0-D224-11BB-2D273BAA0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4616832"/>
            <a:ext cx="4854614" cy="407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20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747BD-F55C-8846-07A1-16A743C1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28396DB-5FB9-E030-769A-FE3187F3E55E}"/>
              </a:ext>
            </a:extLst>
          </p:cNvPr>
          <p:cNvGrpSpPr/>
          <p:nvPr/>
        </p:nvGrpSpPr>
        <p:grpSpPr>
          <a:xfrm>
            <a:off x="771737" y="666750"/>
            <a:ext cx="16954500" cy="8953500"/>
            <a:chOff x="0" y="0"/>
            <a:chExt cx="7623852" cy="402607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B8A3CE-8066-9E24-AC90-FF5AC8C9AD96}"/>
                </a:ext>
              </a:extLst>
            </p:cNvPr>
            <p:cNvSpPr/>
            <p:nvPr/>
          </p:nvSpPr>
          <p:spPr>
            <a:xfrm>
              <a:off x="0" y="0"/>
              <a:ext cx="7623855" cy="4026079"/>
            </a:xfrm>
            <a:custGeom>
              <a:avLst/>
              <a:gdLst/>
              <a:ahLst/>
              <a:cxnLst/>
              <a:rect l="l" t="t" r="r" b="b"/>
              <a:pathLst>
                <a:path w="7623855" h="4026079">
                  <a:moveTo>
                    <a:pt x="7276895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3746687"/>
                  </a:lnTo>
                  <a:cubicBezTo>
                    <a:pt x="0" y="3783197"/>
                    <a:pt x="13458" y="3818427"/>
                    <a:pt x="37800" y="3845639"/>
                  </a:cubicBezTo>
                  <a:lnTo>
                    <a:pt x="154967" y="3976615"/>
                  </a:lnTo>
                  <a:cubicBezTo>
                    <a:pt x="183122" y="4008090"/>
                    <a:pt x="223353" y="4026080"/>
                    <a:pt x="265584" y="4026079"/>
                  </a:cubicBezTo>
                  <a:lnTo>
                    <a:pt x="7475438" y="4026079"/>
                  </a:lnTo>
                  <a:cubicBezTo>
                    <a:pt x="7514801" y="4026079"/>
                    <a:pt x="7552551" y="4010443"/>
                    <a:pt x="7580385" y="3982610"/>
                  </a:cubicBezTo>
                  <a:cubicBezTo>
                    <a:pt x="7608218" y="3954777"/>
                    <a:pt x="7623855" y="3917027"/>
                    <a:pt x="7623855" y="3877664"/>
                  </a:cubicBezTo>
                  <a:lnTo>
                    <a:pt x="7623855" y="366141"/>
                  </a:lnTo>
                  <a:cubicBezTo>
                    <a:pt x="7623855" y="329143"/>
                    <a:pt x="7610035" y="293478"/>
                    <a:pt x="7585105" y="266140"/>
                  </a:cubicBezTo>
                  <a:lnTo>
                    <a:pt x="7386562" y="48414"/>
                  </a:lnTo>
                  <a:cubicBezTo>
                    <a:pt x="7358440" y="17574"/>
                    <a:pt x="7318632" y="0"/>
                    <a:pt x="7276895" y="0"/>
                  </a:cubicBezTo>
                  <a:close/>
                </a:path>
              </a:pathLst>
            </a:custGeom>
            <a:solidFill>
              <a:srgbClr val="6D1E1E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74EC6C8-500C-656A-E433-C6825E6AC93D}"/>
              </a:ext>
            </a:extLst>
          </p:cNvPr>
          <p:cNvGrpSpPr/>
          <p:nvPr/>
        </p:nvGrpSpPr>
        <p:grpSpPr>
          <a:xfrm>
            <a:off x="6115050" y="1995488"/>
            <a:ext cx="2571750" cy="918806"/>
            <a:chOff x="0" y="-19050"/>
            <a:chExt cx="3429000" cy="1225075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04A3A8D-2A29-783E-03DD-D5C225B5E082}"/>
                </a:ext>
              </a:extLst>
            </p:cNvPr>
            <p:cNvSpPr txBox="1"/>
            <p:nvPr/>
          </p:nvSpPr>
          <p:spPr>
            <a:xfrm>
              <a:off x="0" y="-19050"/>
              <a:ext cx="342842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3C2F662-FA49-3B9D-F1C0-062013ADE890}"/>
                </a:ext>
              </a:extLst>
            </p:cNvPr>
            <p:cNvSpPr txBox="1"/>
            <p:nvPr/>
          </p:nvSpPr>
          <p:spPr>
            <a:xfrm>
              <a:off x="0" y="778557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47291E1-1799-A93B-6DC3-6241891E76CD}"/>
              </a:ext>
            </a:extLst>
          </p:cNvPr>
          <p:cNvGrpSpPr/>
          <p:nvPr/>
        </p:nvGrpSpPr>
        <p:grpSpPr>
          <a:xfrm>
            <a:off x="6115050" y="5576888"/>
            <a:ext cx="2571750" cy="1376006"/>
            <a:chOff x="0" y="-19049"/>
            <a:chExt cx="3429000" cy="1834675"/>
          </a:xfrm>
        </p:grpSpPr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322369F-CEC0-AA2F-7650-BA77DEBB8D55}"/>
                </a:ext>
              </a:extLst>
            </p:cNvPr>
            <p:cNvSpPr txBox="1"/>
            <p:nvPr/>
          </p:nvSpPr>
          <p:spPr>
            <a:xfrm>
              <a:off x="0" y="-19049"/>
              <a:ext cx="342842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EA163616-1028-1248-AF35-B2A6A429B13B}"/>
                </a:ext>
              </a:extLst>
            </p:cNvPr>
            <p:cNvSpPr txBox="1"/>
            <p:nvPr/>
          </p:nvSpPr>
          <p:spPr>
            <a:xfrm>
              <a:off x="0" y="1388158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B06DEB8-B4AF-84F3-F07C-8A3852C2AE77}"/>
              </a:ext>
            </a:extLst>
          </p:cNvPr>
          <p:cNvGrpSpPr/>
          <p:nvPr/>
        </p:nvGrpSpPr>
        <p:grpSpPr>
          <a:xfrm>
            <a:off x="13916025" y="1995488"/>
            <a:ext cx="2571750" cy="918806"/>
            <a:chOff x="0" y="-19050"/>
            <a:chExt cx="3429000" cy="1225075"/>
          </a:xfrm>
        </p:grpSpPr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5E8A934-9805-7905-3AAE-3F448AA68A8D}"/>
                </a:ext>
              </a:extLst>
            </p:cNvPr>
            <p:cNvSpPr txBox="1"/>
            <p:nvPr/>
          </p:nvSpPr>
          <p:spPr>
            <a:xfrm>
              <a:off x="0" y="-19050"/>
              <a:ext cx="342842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7D6FB08D-054B-2B42-5B0A-1589BFA70E9B}"/>
                </a:ext>
              </a:extLst>
            </p:cNvPr>
            <p:cNvSpPr txBox="1"/>
            <p:nvPr/>
          </p:nvSpPr>
          <p:spPr>
            <a:xfrm>
              <a:off x="0" y="778557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237E63DC-5276-FF9A-6B11-03FBB09D3F0A}"/>
              </a:ext>
            </a:extLst>
          </p:cNvPr>
          <p:cNvGrpSpPr/>
          <p:nvPr/>
        </p:nvGrpSpPr>
        <p:grpSpPr>
          <a:xfrm>
            <a:off x="13916025" y="5576888"/>
            <a:ext cx="2571750" cy="1376006"/>
            <a:chOff x="0" y="-19049"/>
            <a:chExt cx="3429000" cy="1834675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8EA1983-0C9C-84F1-B8A1-CD58DFF056DD}"/>
                </a:ext>
              </a:extLst>
            </p:cNvPr>
            <p:cNvSpPr txBox="1"/>
            <p:nvPr/>
          </p:nvSpPr>
          <p:spPr>
            <a:xfrm>
              <a:off x="0" y="-19049"/>
              <a:ext cx="342842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3A35E6BE-331C-79A6-E612-AF6A8C2A7F69}"/>
                </a:ext>
              </a:extLst>
            </p:cNvPr>
            <p:cNvSpPr txBox="1"/>
            <p:nvPr/>
          </p:nvSpPr>
          <p:spPr>
            <a:xfrm>
              <a:off x="0" y="1388158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b="1" spc="-115" dirty="0">
                <a:solidFill>
                  <a:srgbClr val="F2C57C"/>
                </a:solidFill>
                <a:latin typeface="Work Sans Bold"/>
                <a:ea typeface="Work Sans Bold"/>
                <a:cs typeface="Work Sans Bold"/>
                <a:sym typeface="Work Sans Bold"/>
              </a:endParaRPr>
            </a:p>
          </p:txBody>
        </p: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0A19C249-1582-0F98-019F-7C76993E3C77}"/>
              </a:ext>
            </a:extLst>
          </p:cNvPr>
          <p:cNvGrpSpPr/>
          <p:nvPr/>
        </p:nvGrpSpPr>
        <p:grpSpPr>
          <a:xfrm rot="5400000">
            <a:off x="8214567" y="-5897043"/>
            <a:ext cx="1691751" cy="15559520"/>
            <a:chOff x="0" y="0"/>
            <a:chExt cx="1434943" cy="2358123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61F0C9DF-57BA-7BEA-77C0-F483D98E7E1C}"/>
                </a:ext>
              </a:extLst>
            </p:cNvPr>
            <p:cNvSpPr/>
            <p:nvPr/>
          </p:nvSpPr>
          <p:spPr>
            <a:xfrm>
              <a:off x="0" y="0"/>
              <a:ext cx="1434943" cy="2358124"/>
            </a:xfrm>
            <a:custGeom>
              <a:avLst/>
              <a:gdLst/>
              <a:ahLst/>
              <a:cxnLst/>
              <a:rect l="l" t="t" r="r" b="b"/>
              <a:pathLst>
                <a:path w="1434943" h="235812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2301284"/>
                  </a:lnTo>
                  <a:cubicBezTo>
                    <a:pt x="1434943" y="2332676"/>
                    <a:pt x="1409495" y="2358124"/>
                    <a:pt x="1378104" y="2358124"/>
                  </a:cubicBezTo>
                  <a:lnTo>
                    <a:pt x="56839" y="2358124"/>
                  </a:lnTo>
                  <a:cubicBezTo>
                    <a:pt x="25448" y="2358124"/>
                    <a:pt x="0" y="2332676"/>
                    <a:pt x="0" y="2301284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C57C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CD2CF7E4-14A3-3402-CA4B-9DB48942C8F3}"/>
                </a:ext>
              </a:extLst>
            </p:cNvPr>
            <p:cNvSpPr txBox="1"/>
            <p:nvPr/>
          </p:nvSpPr>
          <p:spPr>
            <a:xfrm>
              <a:off x="0" y="-57150"/>
              <a:ext cx="143494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08EC917-D8F0-0EBD-9172-160771E8345A}"/>
              </a:ext>
            </a:extLst>
          </p:cNvPr>
          <p:cNvSpPr txBox="1"/>
          <p:nvPr/>
        </p:nvSpPr>
        <p:spPr>
          <a:xfrm>
            <a:off x="1447797" y="1347762"/>
            <a:ext cx="149352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Pizza never ordered</a:t>
            </a:r>
            <a:endParaRPr lang="en-IN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4815C8-D857-DD8B-4342-F57D185CAA61}"/>
              </a:ext>
            </a:extLst>
          </p:cNvPr>
          <p:cNvSpPr txBox="1"/>
          <p:nvPr/>
        </p:nvSpPr>
        <p:spPr>
          <a:xfrm>
            <a:off x="1447797" y="3861448"/>
            <a:ext cx="706359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SELECT     *FROM    pizzas AS p        LEFT JOIN    </a:t>
            </a:r>
            <a:r>
              <a:rPr lang="en-IN" sz="4000" b="1" dirty="0" err="1">
                <a:solidFill>
                  <a:schemeClr val="accent6">
                    <a:lumMod val="75000"/>
                  </a:schemeClr>
                </a:solidFill>
              </a:rPr>
              <a:t>pizza_types</a:t>
            </a:r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  AS pt ON </a:t>
            </a:r>
            <a:r>
              <a:rPr lang="en-IN" sz="4000" b="1" dirty="0" err="1">
                <a:solidFill>
                  <a:schemeClr val="accent6">
                    <a:lumMod val="75000"/>
                  </a:schemeClr>
                </a:solidFill>
              </a:rPr>
              <a:t>p.pizza_type_id</a:t>
            </a:r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IN" sz="4000" b="1" dirty="0" err="1">
                <a:solidFill>
                  <a:schemeClr val="accent6">
                    <a:lumMod val="75000"/>
                  </a:schemeClr>
                </a:solidFill>
              </a:rPr>
              <a:t>pt.pizza_type_id</a:t>
            </a:r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        LEFT JOIN    </a:t>
            </a:r>
            <a:r>
              <a:rPr lang="en-IN" sz="4000" b="1" dirty="0" err="1">
                <a:solidFill>
                  <a:schemeClr val="accent6">
                    <a:lumMod val="75000"/>
                  </a:schemeClr>
                </a:solidFill>
              </a:rPr>
              <a:t>order_details</a:t>
            </a:r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  AS od ON </a:t>
            </a:r>
            <a:r>
              <a:rPr lang="en-IN" sz="4000" b="1" dirty="0" err="1">
                <a:solidFill>
                  <a:schemeClr val="accent6">
                    <a:lumMod val="75000"/>
                  </a:schemeClr>
                </a:solidFill>
              </a:rPr>
              <a:t>p.pizza_id</a:t>
            </a:r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IN" sz="4000" b="1" dirty="0" err="1">
                <a:solidFill>
                  <a:schemeClr val="accent6">
                    <a:lumMod val="75000"/>
                  </a:schemeClr>
                </a:solidFill>
              </a:rPr>
              <a:t>od.pizza_id</a:t>
            </a:r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 WHERE    </a:t>
            </a:r>
            <a:r>
              <a:rPr lang="en-IN" sz="4000" b="1" dirty="0" err="1">
                <a:solidFill>
                  <a:schemeClr val="accent6">
                    <a:lumMod val="75000"/>
                  </a:schemeClr>
                </a:solidFill>
              </a:rPr>
              <a:t>od.order_id</a:t>
            </a:r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 IS NULL;</a:t>
            </a:r>
          </a:p>
          <a:p>
            <a:endParaRPr lang="en-IN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6DF476-6FC0-50C9-F1AA-BF016753EF2C}"/>
              </a:ext>
            </a:extLst>
          </p:cNvPr>
          <p:cNvSpPr txBox="1"/>
          <p:nvPr/>
        </p:nvSpPr>
        <p:spPr>
          <a:xfrm>
            <a:off x="1543050" y="2838427"/>
            <a:ext cx="2571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>
                    <a:lumMod val="75000"/>
                  </a:schemeClr>
                </a:solidFill>
              </a:rPr>
              <a:t>QUERY:-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0A2C06-4A8A-41B9-A4D9-24A2DDAF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3958110"/>
            <a:ext cx="8753263" cy="3699990"/>
          </a:xfrm>
          <a:prstGeom prst="rect">
            <a:avLst/>
          </a:prstGeom>
        </p:spPr>
      </p:pic>
      <p:grpSp>
        <p:nvGrpSpPr>
          <p:cNvPr id="4" name="Group 27">
            <a:extLst>
              <a:ext uri="{FF2B5EF4-FFF2-40B4-BE49-F238E27FC236}">
                <a16:creationId xmlns:a16="http://schemas.microsoft.com/office/drawing/2014/main" id="{B33398B7-3494-6A0B-AA9C-530B935737DC}"/>
              </a:ext>
            </a:extLst>
          </p:cNvPr>
          <p:cNvGrpSpPr/>
          <p:nvPr/>
        </p:nvGrpSpPr>
        <p:grpSpPr>
          <a:xfrm>
            <a:off x="14153052" y="1062242"/>
            <a:ext cx="3429000" cy="1691751"/>
            <a:chOff x="0" y="0"/>
            <a:chExt cx="1940193" cy="1465878"/>
          </a:xfrm>
        </p:grpSpPr>
        <p:sp>
          <p:nvSpPr>
            <p:cNvPr id="5" name="Freeform 28">
              <a:extLst>
                <a:ext uri="{FF2B5EF4-FFF2-40B4-BE49-F238E27FC236}">
                  <a16:creationId xmlns:a16="http://schemas.microsoft.com/office/drawing/2014/main" id="{EDAFD254-6BA3-2252-6E74-C4F503CE913F}"/>
                </a:ext>
              </a:extLst>
            </p:cNvPr>
            <p:cNvSpPr/>
            <p:nvPr/>
          </p:nvSpPr>
          <p:spPr>
            <a:xfrm>
              <a:off x="0" y="0"/>
              <a:ext cx="1940195" cy="1465891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3"/>
              <a:stretch>
                <a:fillRect t="-129" b="-129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27036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ACC39-3243-7ED6-2227-DB41E23C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73FD1A8-0766-5BB4-EE85-80D6AB09EE9A}"/>
              </a:ext>
            </a:extLst>
          </p:cNvPr>
          <p:cNvGrpSpPr/>
          <p:nvPr/>
        </p:nvGrpSpPr>
        <p:grpSpPr>
          <a:xfrm>
            <a:off x="457200" y="419100"/>
            <a:ext cx="17449800" cy="9570429"/>
            <a:chOff x="0" y="0"/>
            <a:chExt cx="3299803" cy="17425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354386A-2581-5D8B-5523-059074528985}"/>
                </a:ext>
              </a:extLst>
            </p:cNvPr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F2C57C"/>
            </a:solid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6F508E7-A386-C188-EC13-FBA721070B4F}"/>
              </a:ext>
            </a:extLst>
          </p:cNvPr>
          <p:cNvSpPr txBox="1"/>
          <p:nvPr/>
        </p:nvSpPr>
        <p:spPr>
          <a:xfrm>
            <a:off x="1219200" y="2737362"/>
            <a:ext cx="2565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u="sng" dirty="0">
                <a:solidFill>
                  <a:schemeClr val="accent2">
                    <a:lumMod val="75000"/>
                  </a:schemeClr>
                </a:solidFill>
              </a:rPr>
              <a:t>QUERY:-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7A124C-A8AE-F343-016E-C0DB6EDB0347}"/>
              </a:ext>
            </a:extLst>
          </p:cNvPr>
          <p:cNvSpPr txBox="1"/>
          <p:nvPr/>
        </p:nvSpPr>
        <p:spPr>
          <a:xfrm>
            <a:off x="1981200" y="610747"/>
            <a:ext cx="15697200" cy="208851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ts val="6999"/>
              </a:lnSpc>
            </a:pPr>
            <a:r>
              <a:rPr lang="en-IN" sz="60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Pizza category that generates the highest revenue</a:t>
            </a:r>
            <a:endParaRPr lang="en-US" sz="6000" b="1" spc="-384" dirty="0">
              <a:solidFill>
                <a:srgbClr val="FFC000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D7AF83-ED93-F5D1-056A-0A008B2562EF}"/>
              </a:ext>
            </a:extLst>
          </p:cNvPr>
          <p:cNvSpPr txBox="1"/>
          <p:nvPr/>
        </p:nvSpPr>
        <p:spPr>
          <a:xfrm>
            <a:off x="4038600" y="2734087"/>
            <a:ext cx="58674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SELECT    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pt.category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, SUM(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p.price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 *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od.quantity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) AS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total_revenue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 FROM   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order_details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 AS od        JOIN    pizzas AS p ON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od.pizza_id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p.pizza_id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        JOIN   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pizza_types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 AS pt ON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p.pizza_type_id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pt.pizza_type_id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 GROUP BY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pt.category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 ORDER BY </a:t>
            </a:r>
            <a:r>
              <a:rPr lang="en-IN" sz="3600" b="1" dirty="0" err="1">
                <a:solidFill>
                  <a:schemeClr val="accent2">
                    <a:lumMod val="75000"/>
                  </a:schemeClr>
                </a:solidFill>
              </a:rPr>
              <a:t>total_revenue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 DESC LIMIT 1;</a:t>
            </a:r>
          </a:p>
          <a:p>
            <a:endParaRPr lang="en-IN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AE0D1-FFEA-8417-9417-24CFBB374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0" y="4381500"/>
            <a:ext cx="5257800" cy="297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15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DA20D-0201-D2C3-B08A-F45ED130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4A43AF7-B59D-AEF5-9F60-F1EC9ED91605}"/>
              </a:ext>
            </a:extLst>
          </p:cNvPr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4D88B1-DBB6-8E2E-3359-34C27763025A}"/>
                </a:ext>
              </a:extLst>
            </p:cNvPr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6D1E1E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7A87F36C-CDA3-158D-E6B8-053B21BE3CBA}"/>
              </a:ext>
            </a:extLst>
          </p:cNvPr>
          <p:cNvSpPr txBox="1"/>
          <p:nvPr/>
        </p:nvSpPr>
        <p:spPr>
          <a:xfrm>
            <a:off x="1143000" y="1153863"/>
            <a:ext cx="12639675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6649"/>
              </a:lnSpc>
            </a:pPr>
            <a:r>
              <a:rPr lang="en-IN" sz="6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Top 5 best selling pizzas by their total quantities sold</a:t>
            </a:r>
            <a:endParaRPr lang="en-US" sz="6600" b="1" spc="-384" dirty="0">
              <a:solidFill>
                <a:srgbClr val="F2C57C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0C26A5B-2AA4-4286-FA90-39ED10E4FC60}"/>
              </a:ext>
            </a:extLst>
          </p:cNvPr>
          <p:cNvSpPr txBox="1"/>
          <p:nvPr/>
        </p:nvSpPr>
        <p:spPr>
          <a:xfrm>
            <a:off x="1009075" y="7815263"/>
            <a:ext cx="474322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 lang="en-US" sz="3000" b="1" spc="-165" dirty="0">
              <a:solidFill>
                <a:srgbClr val="3F3F3F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24A0988-3348-432A-CE21-CD9860030B36}"/>
              </a:ext>
            </a:extLst>
          </p:cNvPr>
          <p:cNvGrpSpPr/>
          <p:nvPr/>
        </p:nvGrpSpPr>
        <p:grpSpPr>
          <a:xfrm>
            <a:off x="13482648" y="666750"/>
            <a:ext cx="4271952" cy="2686050"/>
            <a:chOff x="-1817533" y="455599"/>
            <a:chExt cx="1641604" cy="1146545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12727264-7897-B539-8896-F65146896D6D}"/>
                </a:ext>
              </a:extLst>
            </p:cNvPr>
            <p:cNvSpPr/>
            <p:nvPr/>
          </p:nvSpPr>
          <p:spPr>
            <a:xfrm>
              <a:off x="-1817533" y="455599"/>
              <a:ext cx="1641604" cy="1146545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2"/>
              <a:stretch>
                <a:fillRect t="-129" b="-129"/>
              </a:stretch>
            </a:blipFill>
          </p:spPr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94F70B4-C018-E3C4-4CAF-C109F6047C22}"/>
              </a:ext>
            </a:extLst>
          </p:cNvPr>
          <p:cNvSpPr txBox="1"/>
          <p:nvPr/>
        </p:nvSpPr>
        <p:spPr>
          <a:xfrm>
            <a:off x="3886200" y="4276130"/>
            <a:ext cx="746759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6"/>
                </a:solidFill>
              </a:rPr>
              <a:t>SELECT     pt.name, SUM(</a:t>
            </a:r>
            <a:r>
              <a:rPr lang="en-IN" sz="4000" b="1" dirty="0" err="1">
                <a:solidFill>
                  <a:schemeClr val="accent6"/>
                </a:solidFill>
              </a:rPr>
              <a:t>od.quantity</a:t>
            </a:r>
            <a:r>
              <a:rPr lang="en-IN" sz="4000" b="1" dirty="0">
                <a:solidFill>
                  <a:schemeClr val="accent6"/>
                </a:solidFill>
              </a:rPr>
              <a:t>) AS </a:t>
            </a:r>
            <a:r>
              <a:rPr lang="en-IN" sz="4000" b="1" dirty="0" err="1">
                <a:solidFill>
                  <a:schemeClr val="accent6"/>
                </a:solidFill>
              </a:rPr>
              <a:t>total_sold</a:t>
            </a:r>
            <a:r>
              <a:rPr lang="en-IN" sz="4000" b="1" dirty="0">
                <a:solidFill>
                  <a:schemeClr val="accent6"/>
                </a:solidFill>
              </a:rPr>
              <a:t> FROM    </a:t>
            </a:r>
            <a:r>
              <a:rPr lang="en-IN" sz="4000" b="1" dirty="0" err="1">
                <a:solidFill>
                  <a:schemeClr val="accent6"/>
                </a:solidFill>
              </a:rPr>
              <a:t>order_details</a:t>
            </a:r>
            <a:r>
              <a:rPr lang="en-IN" sz="4000" b="1" dirty="0">
                <a:solidFill>
                  <a:schemeClr val="accent6"/>
                </a:solidFill>
              </a:rPr>
              <a:t> AS od        JOIN    pizzas AS p ON </a:t>
            </a:r>
            <a:r>
              <a:rPr lang="en-IN" sz="4000" b="1" dirty="0" err="1">
                <a:solidFill>
                  <a:schemeClr val="accent6"/>
                </a:solidFill>
              </a:rPr>
              <a:t>od.pizza_id</a:t>
            </a:r>
            <a:r>
              <a:rPr lang="en-IN" sz="4000" b="1" dirty="0">
                <a:solidFill>
                  <a:schemeClr val="accent6"/>
                </a:solidFill>
              </a:rPr>
              <a:t> = </a:t>
            </a:r>
            <a:r>
              <a:rPr lang="en-IN" sz="4000" b="1" dirty="0" err="1">
                <a:solidFill>
                  <a:schemeClr val="accent6"/>
                </a:solidFill>
              </a:rPr>
              <a:t>p.pizza_id</a:t>
            </a:r>
            <a:r>
              <a:rPr lang="en-IN" sz="4000" b="1" dirty="0">
                <a:solidFill>
                  <a:schemeClr val="accent6"/>
                </a:solidFill>
              </a:rPr>
              <a:t>        JOIN    </a:t>
            </a:r>
            <a:r>
              <a:rPr lang="en-IN" sz="4000" b="1" dirty="0" err="1">
                <a:solidFill>
                  <a:schemeClr val="accent6"/>
                </a:solidFill>
              </a:rPr>
              <a:t>pizza_types</a:t>
            </a:r>
            <a:r>
              <a:rPr lang="en-IN" sz="4000" b="1" dirty="0">
                <a:solidFill>
                  <a:schemeClr val="accent6"/>
                </a:solidFill>
              </a:rPr>
              <a:t> AS pt ON </a:t>
            </a:r>
            <a:r>
              <a:rPr lang="en-IN" sz="4000" b="1" dirty="0" err="1">
                <a:solidFill>
                  <a:schemeClr val="accent6"/>
                </a:solidFill>
              </a:rPr>
              <a:t>p.pizza_type_id</a:t>
            </a:r>
            <a:r>
              <a:rPr lang="en-IN" sz="4000" b="1" dirty="0">
                <a:solidFill>
                  <a:schemeClr val="accent6"/>
                </a:solidFill>
              </a:rPr>
              <a:t> = </a:t>
            </a:r>
            <a:r>
              <a:rPr lang="en-IN" sz="4000" b="1" dirty="0" err="1">
                <a:solidFill>
                  <a:schemeClr val="accent6"/>
                </a:solidFill>
              </a:rPr>
              <a:t>pt.pizza_type_id</a:t>
            </a:r>
            <a:r>
              <a:rPr lang="en-IN" sz="4000" b="1" dirty="0">
                <a:solidFill>
                  <a:schemeClr val="accent6"/>
                </a:solidFill>
              </a:rPr>
              <a:t> GROUP BY pt.name ORDER BY </a:t>
            </a:r>
            <a:r>
              <a:rPr lang="en-IN" sz="4000" b="1" dirty="0" err="1">
                <a:solidFill>
                  <a:schemeClr val="accent6"/>
                </a:solidFill>
              </a:rPr>
              <a:t>total_sold</a:t>
            </a:r>
            <a:r>
              <a:rPr lang="en-IN" sz="4000" b="1" dirty="0">
                <a:solidFill>
                  <a:schemeClr val="accent6"/>
                </a:solidFill>
              </a:rPr>
              <a:t> DESC LIMIT 5;</a:t>
            </a:r>
          </a:p>
          <a:p>
            <a:endParaRPr lang="en-IN" sz="4000" b="1" dirty="0">
              <a:solidFill>
                <a:schemeClr val="accent6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3AFEFF-F098-78D2-1851-661F3F99C99F}"/>
              </a:ext>
            </a:extLst>
          </p:cNvPr>
          <p:cNvSpPr txBox="1"/>
          <p:nvPr/>
        </p:nvSpPr>
        <p:spPr>
          <a:xfrm>
            <a:off x="1447800" y="3352800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b="1" u="sng" dirty="0">
                <a:solidFill>
                  <a:schemeClr val="accent6"/>
                </a:solidFill>
              </a:rPr>
              <a:t>QUERY:-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B11CB-AF5D-1E0B-1BA7-8143A602F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00" y="4152900"/>
            <a:ext cx="5410200" cy="466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70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AD6EC-15F6-3A61-16DA-9E9F3127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E859D4-BD01-9CB7-B2FA-0E0152245CF8}"/>
              </a:ext>
            </a:extLst>
          </p:cNvPr>
          <p:cNvGrpSpPr/>
          <p:nvPr/>
        </p:nvGrpSpPr>
        <p:grpSpPr>
          <a:xfrm>
            <a:off x="771737" y="666750"/>
            <a:ext cx="16954500" cy="8953500"/>
            <a:chOff x="0" y="0"/>
            <a:chExt cx="7623852" cy="402607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B3E639-DCB5-304B-CAF4-368A2849CE1F}"/>
                </a:ext>
              </a:extLst>
            </p:cNvPr>
            <p:cNvSpPr/>
            <p:nvPr/>
          </p:nvSpPr>
          <p:spPr>
            <a:xfrm>
              <a:off x="0" y="0"/>
              <a:ext cx="7623855" cy="4026079"/>
            </a:xfrm>
            <a:custGeom>
              <a:avLst/>
              <a:gdLst/>
              <a:ahLst/>
              <a:cxnLst/>
              <a:rect l="l" t="t" r="r" b="b"/>
              <a:pathLst>
                <a:path w="7623855" h="4026079">
                  <a:moveTo>
                    <a:pt x="7276895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3746687"/>
                  </a:lnTo>
                  <a:cubicBezTo>
                    <a:pt x="0" y="3783197"/>
                    <a:pt x="13458" y="3818427"/>
                    <a:pt x="37800" y="3845639"/>
                  </a:cubicBezTo>
                  <a:lnTo>
                    <a:pt x="154967" y="3976615"/>
                  </a:lnTo>
                  <a:cubicBezTo>
                    <a:pt x="183122" y="4008090"/>
                    <a:pt x="223353" y="4026080"/>
                    <a:pt x="265584" y="4026079"/>
                  </a:cubicBezTo>
                  <a:lnTo>
                    <a:pt x="7475438" y="4026079"/>
                  </a:lnTo>
                  <a:cubicBezTo>
                    <a:pt x="7514801" y="4026079"/>
                    <a:pt x="7552551" y="4010443"/>
                    <a:pt x="7580385" y="3982610"/>
                  </a:cubicBezTo>
                  <a:cubicBezTo>
                    <a:pt x="7608218" y="3954777"/>
                    <a:pt x="7623855" y="3917027"/>
                    <a:pt x="7623855" y="3877664"/>
                  </a:cubicBezTo>
                  <a:lnTo>
                    <a:pt x="7623855" y="366141"/>
                  </a:lnTo>
                  <a:cubicBezTo>
                    <a:pt x="7623855" y="329143"/>
                    <a:pt x="7610035" y="293478"/>
                    <a:pt x="7585105" y="266140"/>
                  </a:cubicBezTo>
                  <a:lnTo>
                    <a:pt x="7386562" y="48414"/>
                  </a:lnTo>
                  <a:cubicBezTo>
                    <a:pt x="7358440" y="17574"/>
                    <a:pt x="7318632" y="0"/>
                    <a:pt x="7276895" y="0"/>
                  </a:cubicBezTo>
                  <a:close/>
                </a:path>
              </a:pathLst>
            </a:custGeom>
            <a:solidFill>
              <a:srgbClr val="6D1E1E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5FD0215-22B5-A3F4-29C6-9B4267883087}"/>
              </a:ext>
            </a:extLst>
          </p:cNvPr>
          <p:cNvGrpSpPr/>
          <p:nvPr/>
        </p:nvGrpSpPr>
        <p:grpSpPr>
          <a:xfrm>
            <a:off x="6115050" y="1995488"/>
            <a:ext cx="2571750" cy="918806"/>
            <a:chOff x="0" y="-19050"/>
            <a:chExt cx="3429000" cy="1225075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E0FEF99-0923-8E8D-4F1E-3ED7916A1A8F}"/>
                </a:ext>
              </a:extLst>
            </p:cNvPr>
            <p:cNvSpPr txBox="1"/>
            <p:nvPr/>
          </p:nvSpPr>
          <p:spPr>
            <a:xfrm>
              <a:off x="0" y="-19050"/>
              <a:ext cx="342842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AF4C991-0A7E-8D97-EAF7-54910EF06261}"/>
                </a:ext>
              </a:extLst>
            </p:cNvPr>
            <p:cNvSpPr txBox="1"/>
            <p:nvPr/>
          </p:nvSpPr>
          <p:spPr>
            <a:xfrm>
              <a:off x="0" y="778557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CEBDEAB-8B68-CFBF-65B0-86FD3884E92A}"/>
              </a:ext>
            </a:extLst>
          </p:cNvPr>
          <p:cNvGrpSpPr/>
          <p:nvPr/>
        </p:nvGrpSpPr>
        <p:grpSpPr>
          <a:xfrm>
            <a:off x="6115050" y="5576888"/>
            <a:ext cx="2571750" cy="1376006"/>
            <a:chOff x="0" y="-19049"/>
            <a:chExt cx="3429000" cy="1834675"/>
          </a:xfrm>
        </p:grpSpPr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46608F4D-E113-5026-1DEB-ADAEDE90F9CA}"/>
                </a:ext>
              </a:extLst>
            </p:cNvPr>
            <p:cNvSpPr txBox="1"/>
            <p:nvPr/>
          </p:nvSpPr>
          <p:spPr>
            <a:xfrm>
              <a:off x="0" y="-19049"/>
              <a:ext cx="342842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AA795458-43D3-3707-C232-94BCE13A28B2}"/>
                </a:ext>
              </a:extLst>
            </p:cNvPr>
            <p:cNvSpPr txBox="1"/>
            <p:nvPr/>
          </p:nvSpPr>
          <p:spPr>
            <a:xfrm>
              <a:off x="0" y="1388158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9DB0D174-E764-7F28-EA2B-079B94763079}"/>
              </a:ext>
            </a:extLst>
          </p:cNvPr>
          <p:cNvGrpSpPr/>
          <p:nvPr/>
        </p:nvGrpSpPr>
        <p:grpSpPr>
          <a:xfrm>
            <a:off x="13916025" y="1995488"/>
            <a:ext cx="2571750" cy="918806"/>
            <a:chOff x="0" y="-19050"/>
            <a:chExt cx="3429000" cy="1225075"/>
          </a:xfrm>
        </p:grpSpPr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DB16E55-6C3C-6F52-419A-26A240CD4965}"/>
                </a:ext>
              </a:extLst>
            </p:cNvPr>
            <p:cNvSpPr txBox="1"/>
            <p:nvPr/>
          </p:nvSpPr>
          <p:spPr>
            <a:xfrm>
              <a:off x="0" y="-19050"/>
              <a:ext cx="342842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3CFAFFBC-6862-7A61-DD96-839BA59F17F6}"/>
                </a:ext>
              </a:extLst>
            </p:cNvPr>
            <p:cNvSpPr txBox="1"/>
            <p:nvPr/>
          </p:nvSpPr>
          <p:spPr>
            <a:xfrm>
              <a:off x="0" y="778557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spc="-115" dirty="0">
                <a:solidFill>
                  <a:srgbClr val="F2C57C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327FDD3E-2182-C4FF-43E4-C091DB2C14D3}"/>
              </a:ext>
            </a:extLst>
          </p:cNvPr>
          <p:cNvGrpSpPr/>
          <p:nvPr/>
        </p:nvGrpSpPr>
        <p:grpSpPr>
          <a:xfrm>
            <a:off x="13916025" y="5576888"/>
            <a:ext cx="2571750" cy="1376006"/>
            <a:chOff x="0" y="-19049"/>
            <a:chExt cx="3429000" cy="1834675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F838B7BF-393D-398C-5889-C7AF497472F7}"/>
                </a:ext>
              </a:extLst>
            </p:cNvPr>
            <p:cNvSpPr txBox="1"/>
            <p:nvPr/>
          </p:nvSpPr>
          <p:spPr>
            <a:xfrm>
              <a:off x="0" y="-19049"/>
              <a:ext cx="342842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b="1" spc="-165" dirty="0">
                <a:solidFill>
                  <a:srgbClr val="F2C57C"/>
                </a:solidFill>
                <a:latin typeface="Work Sans Semi-Bold"/>
                <a:ea typeface="Work Sans Semi-Bold"/>
                <a:cs typeface="Work Sans Semi-Bold"/>
                <a:sym typeface="Work Sans Semi-Bold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A074F3A3-AD10-4326-E9BA-D7F33566C726}"/>
                </a:ext>
              </a:extLst>
            </p:cNvPr>
            <p:cNvSpPr txBox="1"/>
            <p:nvPr/>
          </p:nvSpPr>
          <p:spPr>
            <a:xfrm>
              <a:off x="0" y="1388158"/>
              <a:ext cx="3429000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2100" b="1" spc="-115" dirty="0">
                <a:solidFill>
                  <a:srgbClr val="F2C57C"/>
                </a:solidFill>
                <a:latin typeface="Work Sans Bold"/>
                <a:ea typeface="Work Sans Bold"/>
                <a:cs typeface="Work Sans Bold"/>
                <a:sym typeface="Work Sans Bold"/>
              </a:endParaRPr>
            </a:p>
          </p:txBody>
        </p: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95716ACD-6A93-5EC7-CA10-399759509F38}"/>
              </a:ext>
            </a:extLst>
          </p:cNvPr>
          <p:cNvGrpSpPr/>
          <p:nvPr/>
        </p:nvGrpSpPr>
        <p:grpSpPr>
          <a:xfrm rot="5400000">
            <a:off x="8214567" y="-5897043"/>
            <a:ext cx="1691751" cy="15559520"/>
            <a:chOff x="0" y="0"/>
            <a:chExt cx="1434943" cy="2358123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5205E8D8-DDF4-1B3B-6DAD-1136E4716F1F}"/>
                </a:ext>
              </a:extLst>
            </p:cNvPr>
            <p:cNvSpPr/>
            <p:nvPr/>
          </p:nvSpPr>
          <p:spPr>
            <a:xfrm>
              <a:off x="0" y="0"/>
              <a:ext cx="1434943" cy="2358124"/>
            </a:xfrm>
            <a:custGeom>
              <a:avLst/>
              <a:gdLst/>
              <a:ahLst/>
              <a:cxnLst/>
              <a:rect l="l" t="t" r="r" b="b"/>
              <a:pathLst>
                <a:path w="1434943" h="235812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2301284"/>
                  </a:lnTo>
                  <a:cubicBezTo>
                    <a:pt x="1434943" y="2332676"/>
                    <a:pt x="1409495" y="2358124"/>
                    <a:pt x="1378104" y="2358124"/>
                  </a:cubicBezTo>
                  <a:lnTo>
                    <a:pt x="56839" y="2358124"/>
                  </a:lnTo>
                  <a:cubicBezTo>
                    <a:pt x="25448" y="2358124"/>
                    <a:pt x="0" y="2332676"/>
                    <a:pt x="0" y="2301284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C57C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E1CA2C34-7809-9C3C-D5FE-4A2E9F9CB5AF}"/>
                </a:ext>
              </a:extLst>
            </p:cNvPr>
            <p:cNvSpPr txBox="1"/>
            <p:nvPr/>
          </p:nvSpPr>
          <p:spPr>
            <a:xfrm>
              <a:off x="0" y="-57150"/>
              <a:ext cx="143494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DB6A978-13DE-92B8-62A9-5B93E02522F0}"/>
              </a:ext>
            </a:extLst>
          </p:cNvPr>
          <p:cNvSpPr txBox="1"/>
          <p:nvPr/>
        </p:nvSpPr>
        <p:spPr>
          <a:xfrm>
            <a:off x="1447797" y="1347762"/>
            <a:ext cx="149352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Least Ordered Pizzas </a:t>
            </a:r>
            <a:endParaRPr lang="en-IN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52761-48E8-335C-98A4-EED4DA539D05}"/>
              </a:ext>
            </a:extLst>
          </p:cNvPr>
          <p:cNvSpPr txBox="1"/>
          <p:nvPr/>
        </p:nvSpPr>
        <p:spPr>
          <a:xfrm>
            <a:off x="2714297" y="3772409"/>
            <a:ext cx="706359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SELECT     pt.name, SUM(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</a:rPr>
              <a:t>od.quantity</a:t>
            </a: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) AS 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</a:rPr>
              <a:t>total_sold</a:t>
            </a: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 FROM    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</a:rPr>
              <a:t>order_details</a:t>
            </a: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 AS od        JOIN    pizzas AS p ON 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</a:rPr>
              <a:t>od.pizza_id</a:t>
            </a: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</a:rPr>
              <a:t>p.pizza_id</a:t>
            </a: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        JOIN    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</a:rPr>
              <a:t>pizza_types</a:t>
            </a: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 AS pt ON 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</a:rPr>
              <a:t>p.pizza_type_id</a:t>
            </a: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</a:rPr>
              <a:t>pt.pizza_type_id</a:t>
            </a: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 GROUP BY pt.name ORDER BY 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</a:rPr>
              <a:t>total_sold</a:t>
            </a: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 ASC LIMIT 5;</a:t>
            </a:r>
          </a:p>
          <a:p>
            <a:endParaRPr lang="en-IN" sz="3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E4F16E-763F-4EA4-82C6-499D89D651EB}"/>
              </a:ext>
            </a:extLst>
          </p:cNvPr>
          <p:cNvSpPr txBox="1"/>
          <p:nvPr/>
        </p:nvSpPr>
        <p:spPr>
          <a:xfrm>
            <a:off x="1543050" y="2838427"/>
            <a:ext cx="2571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u="sng" dirty="0">
                <a:solidFill>
                  <a:schemeClr val="accent6">
                    <a:lumMod val="75000"/>
                  </a:schemeClr>
                </a:solidFill>
              </a:rPr>
              <a:t>QUERY:-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13462-3C31-A795-87F6-C24948F77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946" y="4471145"/>
            <a:ext cx="5714158" cy="3976688"/>
          </a:xfrm>
          <a:prstGeom prst="rect">
            <a:avLst/>
          </a:prstGeom>
        </p:spPr>
      </p:pic>
      <p:grpSp>
        <p:nvGrpSpPr>
          <p:cNvPr id="6" name="Group 27">
            <a:extLst>
              <a:ext uri="{FF2B5EF4-FFF2-40B4-BE49-F238E27FC236}">
                <a16:creationId xmlns:a16="http://schemas.microsoft.com/office/drawing/2014/main" id="{82ECA5F3-9932-2452-E5ED-9BDF0B4ADC11}"/>
              </a:ext>
            </a:extLst>
          </p:cNvPr>
          <p:cNvGrpSpPr/>
          <p:nvPr/>
        </p:nvGrpSpPr>
        <p:grpSpPr>
          <a:xfrm>
            <a:off x="14573574" y="1036841"/>
            <a:ext cx="2885863" cy="1691751"/>
            <a:chOff x="0" y="0"/>
            <a:chExt cx="1940193" cy="1465878"/>
          </a:xfrm>
        </p:grpSpPr>
        <p:sp>
          <p:nvSpPr>
            <p:cNvPr id="7" name="Freeform 28">
              <a:extLst>
                <a:ext uri="{FF2B5EF4-FFF2-40B4-BE49-F238E27FC236}">
                  <a16:creationId xmlns:a16="http://schemas.microsoft.com/office/drawing/2014/main" id="{B25DEE37-27B2-B7CE-CCB0-96A4B7C6CC91}"/>
                </a:ext>
              </a:extLst>
            </p:cNvPr>
            <p:cNvSpPr/>
            <p:nvPr/>
          </p:nvSpPr>
          <p:spPr>
            <a:xfrm>
              <a:off x="0" y="0"/>
              <a:ext cx="1940195" cy="1465891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3"/>
              <a:stretch>
                <a:fillRect t="-129" b="-129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792116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306416"/>
            <a:ext cx="16954500" cy="1941484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F2C57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400" y="825610"/>
            <a:ext cx="13424266" cy="985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00"/>
              </a:lnSpc>
            </a:pPr>
            <a:r>
              <a:rPr lang="en-US" sz="8000" b="1" spc="-440" dirty="0">
                <a:solidFill>
                  <a:schemeClr val="accent2">
                    <a:lumMod val="75000"/>
                  </a:schemeClr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INSIGHTS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47675" y="2476500"/>
            <a:ext cx="17392650" cy="7504084"/>
            <a:chOff x="0" y="0"/>
            <a:chExt cx="2192553" cy="15704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2553" cy="1570410"/>
            </a:xfrm>
            <a:custGeom>
              <a:avLst/>
              <a:gdLst/>
              <a:ahLst/>
              <a:cxnLst/>
              <a:rect l="l" t="t" r="r" b="b"/>
              <a:pathLst>
                <a:path w="2192553" h="1570410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2C57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A4C9803-CC77-D553-5B5E-7C8CB3854F92}"/>
              </a:ext>
            </a:extLst>
          </p:cNvPr>
          <p:cNvSpPr txBox="1"/>
          <p:nvPr/>
        </p:nvSpPr>
        <p:spPr>
          <a:xfrm>
            <a:off x="762000" y="2665127"/>
            <a:ext cx="169926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Greek XXL is the highest-priced pizza in the dataset, with a price of $35.95, indicating that larger pizza sizes are positioned at a premium price.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analysis of orders placed on 1 January 2015 shows that the business received a significant number of orders throughout the day, reflecting active customer ordering on that date.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price validation query returned no pizzas with a NULL price, indicating that the pizza pricing data is complete for the records analysed.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COALESCE() function was used to handle missing ingredient information by replacing missing values with "MISSING DATA", making the dataset easier to interpret and analyse.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dataset contains four major pizza categories: Chicken, Classic, Supreme, and Veggie, providing a diverse range of products for different customer preferences.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total quantity sold across the available order details is 49,574 pizza units, showing strong overall sales volume during the analysed period.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analysis of L and XL pizzas helps identify the availability and pricing of larger pizza sizes, which can be useful for understanding customer preferences for bigger portions.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28" name="Group 8">
            <a:extLst>
              <a:ext uri="{FF2B5EF4-FFF2-40B4-BE49-F238E27FC236}">
                <a16:creationId xmlns:a16="http://schemas.microsoft.com/office/drawing/2014/main" id="{E6D1976F-6FAB-7834-E19F-8EFE289FC1CD}"/>
              </a:ext>
            </a:extLst>
          </p:cNvPr>
          <p:cNvGrpSpPr/>
          <p:nvPr/>
        </p:nvGrpSpPr>
        <p:grpSpPr>
          <a:xfrm>
            <a:off x="12943253" y="306416"/>
            <a:ext cx="4430347" cy="1941484"/>
            <a:chOff x="0" y="0"/>
            <a:chExt cx="2639575" cy="1768076"/>
          </a:xfrm>
        </p:grpSpPr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9FBEA63A-EB0A-D9F0-079E-F4135C14096D}"/>
                </a:ext>
              </a:extLst>
            </p:cNvPr>
            <p:cNvSpPr/>
            <p:nvPr/>
          </p:nvSpPr>
          <p:spPr>
            <a:xfrm>
              <a:off x="0" y="0"/>
              <a:ext cx="2639577" cy="1768076"/>
            </a:xfrm>
            <a:custGeom>
              <a:avLst/>
              <a:gdLst/>
              <a:ahLst/>
              <a:cxnLst/>
              <a:rect l="l" t="t" r="r" b="b"/>
              <a:pathLst>
                <a:path w="2639577" h="1768076">
                  <a:moveTo>
                    <a:pt x="2292619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488684"/>
                  </a:lnTo>
                  <a:cubicBezTo>
                    <a:pt x="0" y="1525195"/>
                    <a:pt x="13458" y="1560424"/>
                    <a:pt x="37800" y="1587636"/>
                  </a:cubicBezTo>
                  <a:lnTo>
                    <a:pt x="154967" y="1718612"/>
                  </a:lnTo>
                  <a:cubicBezTo>
                    <a:pt x="183122" y="1750088"/>
                    <a:pt x="223353" y="1768077"/>
                    <a:pt x="265584" y="1768076"/>
                  </a:cubicBezTo>
                  <a:lnTo>
                    <a:pt x="2491162" y="1768076"/>
                  </a:lnTo>
                  <a:cubicBezTo>
                    <a:pt x="2530524" y="1768077"/>
                    <a:pt x="2568274" y="1752440"/>
                    <a:pt x="2596107" y="1724607"/>
                  </a:cubicBezTo>
                  <a:cubicBezTo>
                    <a:pt x="2623941" y="1696774"/>
                    <a:pt x="2639577" y="1659024"/>
                    <a:pt x="2639577" y="1619662"/>
                  </a:cubicBezTo>
                  <a:lnTo>
                    <a:pt x="2639577" y="366141"/>
                  </a:lnTo>
                  <a:cubicBezTo>
                    <a:pt x="2639578" y="329143"/>
                    <a:pt x="2625759" y="293478"/>
                    <a:pt x="2600828" y="266140"/>
                  </a:cubicBezTo>
                  <a:lnTo>
                    <a:pt x="2402286" y="48414"/>
                  </a:lnTo>
                  <a:cubicBezTo>
                    <a:pt x="2374163" y="17574"/>
                    <a:pt x="2334355" y="0"/>
                    <a:pt x="2292619" y="0"/>
                  </a:cubicBezTo>
                  <a:close/>
                </a:path>
              </a:pathLst>
            </a:custGeom>
            <a:blipFill>
              <a:blip r:embed="rId2"/>
              <a:stretch>
                <a:fillRect l="-174" r="-174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9792A-D4B4-FC2E-33B8-6C25FD8F8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7DC481B-A6D8-C4E5-C240-A914D03CC3DB}"/>
              </a:ext>
            </a:extLst>
          </p:cNvPr>
          <p:cNvGrpSpPr/>
          <p:nvPr/>
        </p:nvGrpSpPr>
        <p:grpSpPr>
          <a:xfrm>
            <a:off x="304800" y="306416"/>
            <a:ext cx="16954500" cy="1941484"/>
            <a:chOff x="0" y="0"/>
            <a:chExt cx="4987154" cy="790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45DB122-E785-813B-A37E-32ACC0D0AD01}"/>
                </a:ext>
              </a:extLst>
            </p:cNvPr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F2C57C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CC50A58-72C7-3BA2-263D-18A2B4965E3A}"/>
              </a:ext>
            </a:extLst>
          </p:cNvPr>
          <p:cNvSpPr txBox="1"/>
          <p:nvPr/>
        </p:nvSpPr>
        <p:spPr>
          <a:xfrm>
            <a:off x="914400" y="825610"/>
            <a:ext cx="13424266" cy="985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00"/>
              </a:lnSpc>
            </a:pPr>
            <a:r>
              <a:rPr lang="en-US" sz="8000" b="1" spc="-440" dirty="0">
                <a:solidFill>
                  <a:schemeClr val="accent2">
                    <a:lumMod val="75000"/>
                  </a:schemeClr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INSIGHTS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2776465-4528-A167-23FF-F16E8532C452}"/>
              </a:ext>
            </a:extLst>
          </p:cNvPr>
          <p:cNvGrpSpPr/>
          <p:nvPr/>
        </p:nvGrpSpPr>
        <p:grpSpPr>
          <a:xfrm>
            <a:off x="447675" y="2476500"/>
            <a:ext cx="17392650" cy="7504084"/>
            <a:chOff x="0" y="0"/>
            <a:chExt cx="2192553" cy="157041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589D560-A87C-B464-E150-66902E6C1F88}"/>
                </a:ext>
              </a:extLst>
            </p:cNvPr>
            <p:cNvSpPr/>
            <p:nvPr/>
          </p:nvSpPr>
          <p:spPr>
            <a:xfrm>
              <a:off x="0" y="0"/>
              <a:ext cx="2192553" cy="1570410"/>
            </a:xfrm>
            <a:custGeom>
              <a:avLst/>
              <a:gdLst/>
              <a:ahLst/>
              <a:cxnLst/>
              <a:rect l="l" t="t" r="r" b="b"/>
              <a:pathLst>
                <a:path w="2192553" h="1570410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2C57C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95A96FD-7B8C-B348-DE2E-9EB1CC552402}"/>
                </a:ext>
              </a:extLst>
            </p:cNvPr>
            <p:cNvSpPr txBox="1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8" name="Group 8">
            <a:extLst>
              <a:ext uri="{FF2B5EF4-FFF2-40B4-BE49-F238E27FC236}">
                <a16:creationId xmlns:a16="http://schemas.microsoft.com/office/drawing/2014/main" id="{3EBD109A-F7D6-4872-EC5B-5CD8A7674F77}"/>
              </a:ext>
            </a:extLst>
          </p:cNvPr>
          <p:cNvGrpSpPr/>
          <p:nvPr/>
        </p:nvGrpSpPr>
        <p:grpSpPr>
          <a:xfrm>
            <a:off x="12943253" y="306416"/>
            <a:ext cx="4430347" cy="1941484"/>
            <a:chOff x="0" y="0"/>
            <a:chExt cx="2639575" cy="1768076"/>
          </a:xfrm>
        </p:grpSpPr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14DCA995-E32C-480D-EB3A-B40EE74C9129}"/>
                </a:ext>
              </a:extLst>
            </p:cNvPr>
            <p:cNvSpPr/>
            <p:nvPr/>
          </p:nvSpPr>
          <p:spPr>
            <a:xfrm>
              <a:off x="0" y="0"/>
              <a:ext cx="2639577" cy="1768076"/>
            </a:xfrm>
            <a:custGeom>
              <a:avLst/>
              <a:gdLst/>
              <a:ahLst/>
              <a:cxnLst/>
              <a:rect l="l" t="t" r="r" b="b"/>
              <a:pathLst>
                <a:path w="2639577" h="1768076">
                  <a:moveTo>
                    <a:pt x="2292619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488684"/>
                  </a:lnTo>
                  <a:cubicBezTo>
                    <a:pt x="0" y="1525195"/>
                    <a:pt x="13458" y="1560424"/>
                    <a:pt x="37800" y="1587636"/>
                  </a:cubicBezTo>
                  <a:lnTo>
                    <a:pt x="154967" y="1718612"/>
                  </a:lnTo>
                  <a:cubicBezTo>
                    <a:pt x="183122" y="1750088"/>
                    <a:pt x="223353" y="1768077"/>
                    <a:pt x="265584" y="1768076"/>
                  </a:cubicBezTo>
                  <a:lnTo>
                    <a:pt x="2491162" y="1768076"/>
                  </a:lnTo>
                  <a:cubicBezTo>
                    <a:pt x="2530524" y="1768077"/>
                    <a:pt x="2568274" y="1752440"/>
                    <a:pt x="2596107" y="1724607"/>
                  </a:cubicBezTo>
                  <a:cubicBezTo>
                    <a:pt x="2623941" y="1696774"/>
                    <a:pt x="2639577" y="1659024"/>
                    <a:pt x="2639577" y="1619662"/>
                  </a:cubicBezTo>
                  <a:lnTo>
                    <a:pt x="2639577" y="366141"/>
                  </a:lnTo>
                  <a:cubicBezTo>
                    <a:pt x="2639578" y="329143"/>
                    <a:pt x="2625759" y="293478"/>
                    <a:pt x="2600828" y="266140"/>
                  </a:cubicBezTo>
                  <a:lnTo>
                    <a:pt x="2402286" y="48414"/>
                  </a:lnTo>
                  <a:cubicBezTo>
                    <a:pt x="2374163" y="17574"/>
                    <a:pt x="2334355" y="0"/>
                    <a:pt x="2292619" y="0"/>
                  </a:cubicBezTo>
                  <a:close/>
                </a:path>
              </a:pathLst>
            </a:custGeom>
            <a:blipFill>
              <a:blip r:embed="rId2"/>
              <a:stretch>
                <a:fillRect l="-174" r="-174"/>
              </a:stretch>
            </a:blipFill>
          </p:spPr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249EC5-8C2B-4FFB-84F2-3CC6FB58421C}"/>
              </a:ext>
            </a:extLst>
          </p:cNvPr>
          <p:cNvSpPr txBox="1"/>
          <p:nvPr/>
        </p:nvSpPr>
        <p:spPr>
          <a:xfrm>
            <a:off x="939800" y="2981499"/>
            <a:ext cx="165354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order-value analysis calculates the total value of each order by combining pizza price and quantity, helping measure the monetary contribution of individual customer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Classic Deluxe Pizza is the best-selling pizza, with 2,453 units sold, making it the strongest-performing individual pizza in the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Barbecue Chicken, Hawaiian, Pepperoni, and Thai Chicken also appear among the top five best-selling pizzas, showing that customers have strong demand for both classic and chicken-based options.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Brie Carre Pizza recorded 490 units sold among the five pizzas shown in the lowest-sales query, suggesting comparatively lower demand and a possible opportunity to review its pricing, promotion, or customer appeal.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The Classic category generated the highest revenue among the categories shown in the analysis, with approximately $220,053.10, indicating that Classic pizzas are an important contributor to overall business revenue.</a:t>
            </a:r>
          </a:p>
        </p:txBody>
      </p:sp>
    </p:spTree>
    <p:extLst>
      <p:ext uri="{BB962C8B-B14F-4D97-AF65-F5344CB8AC3E}">
        <p14:creationId xmlns:p14="http://schemas.microsoft.com/office/powerpoint/2010/main" val="4165568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EDC7B-AEEE-558D-71E7-A61730A8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zza chef man cartoon character ...">
            <a:extLst>
              <a:ext uri="{FF2B5EF4-FFF2-40B4-BE49-F238E27FC236}">
                <a16:creationId xmlns:a16="http://schemas.microsoft.com/office/drawing/2014/main" id="{3ECFB344-7B0A-3E10-A768-EC28DFA36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88" b="99156" l="472" r="95755">
                        <a14:foregroundMark x1="12807" y1="32848" x2="12736" y2="34177"/>
                        <a14:foregroundMark x1="13208" y1="25316" x2="13082" y2="27687"/>
                        <a14:foregroundMark x1="12736" y1="34177" x2="14623" y2="44304"/>
                        <a14:foregroundMark x1="14623" y1="44304" x2="11792" y2="64135"/>
                        <a14:foregroundMark x1="11792" y1="64135" x2="17925" y2="61181"/>
                        <a14:foregroundMark x1="17925" y1="61181" x2="27358" y2="53165"/>
                        <a14:foregroundMark x1="27358" y1="53165" x2="33019" y2="51477"/>
                        <a14:foregroundMark x1="33019" y1="51477" x2="27830" y2="63291"/>
                        <a14:foregroundMark x1="27830" y1="63291" x2="19340" y2="65401"/>
                        <a14:foregroundMark x1="12736" y1="74262" x2="5660" y2="70464"/>
                        <a14:foregroundMark x1="5660" y1="70464" x2="6132" y2="56118"/>
                        <a14:foregroundMark x1="6132" y1="56118" x2="7075" y2="53165"/>
                        <a14:foregroundMark x1="2358" y1="67932" x2="3774" y2="61181"/>
                        <a14:foregroundMark x1="6604" y1="51055" x2="8019" y2="47257"/>
                        <a14:foregroundMark x1="67453" y1="6751" x2="55660" y2="50633"/>
                        <a14:foregroundMark x1="55660" y1="50633" x2="51887" y2="56962"/>
                        <a14:foregroundMark x1="56132" y1="18565" x2="64151" y2="7173"/>
                        <a14:foregroundMark x1="64151" y1="7173" x2="74528" y2="5907"/>
                        <a14:foregroundMark x1="74528" y1="5907" x2="83962" y2="27004"/>
                        <a14:foregroundMark x1="83962" y1="27004" x2="78302" y2="24473"/>
                        <a14:foregroundMark x1="78302" y1="24473" x2="71698" y2="17722"/>
                        <a14:foregroundMark x1="71698" y1="17722" x2="62736" y2="14768"/>
                        <a14:foregroundMark x1="53774" y1="7595" x2="64151" y2="1688"/>
                        <a14:foregroundMark x1="64151" y1="1688" x2="73113" y2="1688"/>
                        <a14:foregroundMark x1="73113" y1="1688" x2="82075" y2="7595"/>
                        <a14:foregroundMark x1="82075" y1="7595" x2="87264" y2="16456"/>
                        <a14:foregroundMark x1="87264" y1="16456" x2="87736" y2="29958"/>
                        <a14:foregroundMark x1="95283" y1="24895" x2="94340" y2="27426"/>
                        <a14:foregroundMark x1="13679" y1="86076" x2="64623" y2="91983"/>
                        <a14:foregroundMark x1="64623" y1="91983" x2="74057" y2="91983"/>
                        <a14:foregroundMark x1="74057" y1="91983" x2="96698" y2="85654"/>
                        <a14:foregroundMark x1="94340" y1="88608" x2="61321" y2="98312"/>
                        <a14:foregroundMark x1="61321" y1="98312" x2="40094" y2="96624"/>
                        <a14:foregroundMark x1="40094" y1="96624" x2="37264" y2="95359"/>
                        <a14:foregroundMark x1="12736" y1="24051" x2="11321" y2="31224"/>
                        <a14:foregroundMark x1="10849" y1="33333" x2="11321" y2="29536"/>
                        <a14:foregroundMark x1="9906" y1="44304" x2="7547" y2="46835"/>
                        <a14:foregroundMark x1="472" y1="67932" x2="4717" y2="53165"/>
                        <a14:foregroundMark x1="63679" y1="99156" x2="71226" y2="96203"/>
                        <a14:backgroundMark x1="10633" y1="31116" x2="10377" y2="324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2974895"/>
            <a:ext cx="8001000" cy="6996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88F1A6-8749-4B4C-F0FB-26D924C9231D}"/>
              </a:ext>
            </a:extLst>
          </p:cNvPr>
          <p:cNvSpPr txBox="1"/>
          <p:nvPr/>
        </p:nvSpPr>
        <p:spPr>
          <a:xfrm>
            <a:off x="1295400" y="1866900"/>
            <a:ext cx="9372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0" b="1" dirty="0">
                <a:solidFill>
                  <a:srgbClr val="FFC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50228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1183</Words>
  <Application>Microsoft Office PowerPoint</Application>
  <PresentationFormat>Custom</PresentationFormat>
  <Paragraphs>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Calibri</vt:lpstr>
      <vt:lpstr>Arial</vt:lpstr>
      <vt:lpstr>ADLaM Display</vt:lpstr>
      <vt:lpstr>Work Sans</vt:lpstr>
      <vt:lpstr>Work Sans Semi-Bold</vt:lpstr>
      <vt:lpstr>Work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Sahil</dc:creator>
  <cp:lastModifiedBy>sahilsk7109@gmail.com</cp:lastModifiedBy>
  <cp:revision>14</cp:revision>
  <dcterms:created xsi:type="dcterms:W3CDTF">2006-08-16T00:00:00Z</dcterms:created>
  <dcterms:modified xsi:type="dcterms:W3CDTF">2026-08-02T07:47:11Z</dcterms:modified>
  <dc:identifier>DAHBqXfHJQ8</dc:identifier>
</cp:coreProperties>
</file>